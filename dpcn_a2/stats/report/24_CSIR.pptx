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A37"/>
                </a:solidFill>
                <a:latin typeface="Calibri"/>
              </a:rPr>
              <a:t>Distinct papers per year (* 2026 partial, to 13 Oct)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IICT</c:v>
                </c:pt>
              </c:strCache>
            </c:strRef>
          </c:tx>
          <c:spPr>
            <a:solidFill>
              <a:srgbClr val="2B5C8F"/>
            </a:solidFill>
            <a:ln>
              <a:noFill/>
            </a:ln>
          </c:spPr>
          <c:cat>
            <c:strRef>
              <c:f>Sheet1!$A$2:$A$12</c:f>
              <c:strCache>
                <c:ptCount val="11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  <c:pt idx="10">
                  <c:v>2026*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827</c:v>
                </c:pt>
                <c:pt idx="1">
                  <c:v>708</c:v>
                </c:pt>
                <c:pt idx="2">
                  <c:v>590</c:v>
                </c:pt>
                <c:pt idx="3">
                  <c:v>537</c:v>
                </c:pt>
                <c:pt idx="4">
                  <c:v>500</c:v>
                </c:pt>
                <c:pt idx="5">
                  <c:v>476</c:v>
                </c:pt>
                <c:pt idx="6">
                  <c:v>475</c:v>
                </c:pt>
                <c:pt idx="7">
                  <c:v>541</c:v>
                </c:pt>
                <c:pt idx="8">
                  <c:v>564</c:v>
                </c:pt>
                <c:pt idx="9">
                  <c:v>528</c:v>
                </c:pt>
                <c:pt idx="10">
                  <c:v>421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NCL</c:v>
                </c:pt>
              </c:strCache>
            </c:strRef>
          </c:tx>
          <c:spPr>
            <a:solidFill>
              <a:srgbClr val="2E7D32"/>
            </a:solidFill>
            <a:ln>
              <a:noFill/>
            </a:ln>
          </c:spPr>
          <c:cat>
            <c:strRef>
              <c:f>Sheet1!$A$2:$A$12</c:f>
              <c:strCache>
                <c:ptCount val="11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  <c:pt idx="10">
                  <c:v>2026*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687</c:v>
                </c:pt>
                <c:pt idx="1">
                  <c:v>628</c:v>
                </c:pt>
                <c:pt idx="2">
                  <c:v>556</c:v>
                </c:pt>
                <c:pt idx="3">
                  <c:v>489</c:v>
                </c:pt>
                <c:pt idx="4">
                  <c:v>446</c:v>
                </c:pt>
                <c:pt idx="5">
                  <c:v>466</c:v>
                </c:pt>
                <c:pt idx="6">
                  <c:v>423</c:v>
                </c:pt>
                <c:pt idx="7">
                  <c:v>422</c:v>
                </c:pt>
                <c:pt idx="8">
                  <c:v>482</c:v>
                </c:pt>
                <c:pt idx="9">
                  <c:v>465</c:v>
                </c:pt>
                <c:pt idx="10">
                  <c:v>340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CECRI</c:v>
                </c:pt>
              </c:strCache>
            </c:strRef>
          </c:tx>
          <c:spPr>
            <a:solidFill>
              <a:srgbClr val="D95F02"/>
            </a:solidFill>
            <a:ln>
              <a:noFill/>
            </a:ln>
          </c:spPr>
          <c:cat>
            <c:strRef>
              <c:f>Sheet1!$A$2:$A$12</c:f>
              <c:strCache>
                <c:ptCount val="11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  <c:pt idx="10">
                  <c:v>2026*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238</c:v>
                </c:pt>
                <c:pt idx="1">
                  <c:v>309</c:v>
                </c:pt>
                <c:pt idx="2">
                  <c:v>326</c:v>
                </c:pt>
                <c:pt idx="3">
                  <c:v>320</c:v>
                </c:pt>
                <c:pt idx="4">
                  <c:v>283</c:v>
                </c:pt>
                <c:pt idx="5">
                  <c:v>258</c:v>
                </c:pt>
                <c:pt idx="6">
                  <c:v>237</c:v>
                </c:pt>
                <c:pt idx="7">
                  <c:v>237</c:v>
                </c:pt>
                <c:pt idx="8">
                  <c:v>255</c:v>
                </c:pt>
                <c:pt idx="9">
                  <c:v>239</c:v>
                </c:pt>
                <c:pt idx="10">
                  <c:v>183</c:v>
                </c:pt>
              </c:numCache>
            </c:numRef>
          </c:val>
        </c:ser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BE3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BE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5B677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A37"/>
                </a:solidFill>
                <a:latin typeface="Calibri"/>
              </a:rPr>
              <a:t>Share of journal papers by SJR quartile</a:t>
            </a:r>
          </a:p>
        </c:rich>
      </c:tx>
      <c:layout/>
      <c:overlay val="0"/>
    </c:title>
    <c:autoTitleDeleted val="0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Q1</c:v>
                </c:pt>
              </c:strCache>
            </c:strRef>
          </c:tx>
          <c:spPr>
            <a:solidFill>
              <a:srgbClr val="0F4C5C"/>
            </a:solidFill>
            <a:ln>
              <a:noFill/>
            </a:ln>
          </c:spPr>
          <c:dLbls>
            <c:numFmt formatCode="0%" sourceLinked="0"/>
            <c:txPr>
              <a:bodyPr/>
              <a:lstStyle/>
              <a:p>
                <a:pPr>
                  <a:defRPr sz="1100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IICT</c:v>
                </c:pt>
                <c:pt idx="1">
                  <c:v>NCL</c:v>
                </c:pt>
                <c:pt idx="2">
                  <c:v>CECRI</c:v>
                </c:pt>
                <c:pt idx="3">
                  <c:v>All three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0.5182385803483405</c:v>
                </c:pt>
                <c:pt idx="1">
                  <c:v>0.6422566784980385</c:v>
                </c:pt>
                <c:pt idx="2">
                  <c:v>0.7120141342756183</c:v>
                </c:pt>
                <c:pt idx="3">
                  <c:v>0.6022165748976422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</c:v>
                </c:pt>
              </c:strCache>
            </c:strRef>
          </c:tx>
          <c:spPr>
            <a:solidFill>
              <a:srgbClr val="3B8EA5"/>
            </a:solidFill>
            <a:ln>
              <a:noFill/>
            </a:ln>
          </c:spPr>
          <c:dLbls>
            <c:numFmt formatCode="0%" sourceLinked="0"/>
            <c:txPr>
              <a:bodyPr/>
              <a:lstStyle/>
              <a:p>
                <a:pPr>
                  <a:defRPr sz="1100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IICT</c:v>
                </c:pt>
                <c:pt idx="1">
                  <c:v>NCL</c:v>
                </c:pt>
                <c:pt idx="2">
                  <c:v>CECRI</c:v>
                </c:pt>
                <c:pt idx="3">
                  <c:v>All three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0.2955964508708511</c:v>
                </c:pt>
                <c:pt idx="1">
                  <c:v>0.2337007285634224</c:v>
                </c:pt>
                <c:pt idx="2">
                  <c:v>0.22226148409893992</c:v>
                </c:pt>
                <c:pt idx="3">
                  <c:v>0.25829450797684594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Q3</c:v>
                </c:pt>
              </c:strCache>
            </c:strRef>
          </c:tx>
          <c:spPr>
            <a:solidFill>
              <a:srgbClr val="9CC5D3"/>
            </a:solidFill>
            <a:ln>
              <a:noFill/>
            </a:ln>
          </c:spPr>
          <c:dLbls>
            <c:numFmt formatCode="0%" sourceLinked="0"/>
            <c:txPr>
              <a:bodyPr/>
              <a:lstStyle/>
              <a:p>
                <a:pPr>
                  <a:defRPr sz="1100">
                    <a:solidFill>
                      <a:srgbClr val="1F2A37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IICT</c:v>
                </c:pt>
                <c:pt idx="1">
                  <c:v>NCL</c:v>
                </c:pt>
                <c:pt idx="2">
                  <c:v>CECRI</c:v>
                </c:pt>
                <c:pt idx="3">
                  <c:v>All three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0.10417351298061124</c:v>
                </c:pt>
                <c:pt idx="1">
                  <c:v>0.06351578554081823</c:v>
                </c:pt>
                <c:pt idx="2">
                  <c:v>0.037809187279151946</c:v>
                </c:pt>
                <c:pt idx="3">
                  <c:v>0.07595651560073416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Q4</c:v>
                </c:pt>
              </c:strCache>
            </c:strRef>
          </c:tx>
          <c:spPr>
            <a:solidFill>
              <a:srgbClr val="D6E6EC"/>
            </a:solidFill>
            <a:ln>
              <a:noFill/>
            </a:ln>
          </c:spPr>
          <c:dLbls>
            <c:numFmt formatCode="0%" sourceLinked="0"/>
            <c:txPr>
              <a:bodyPr/>
              <a:lstStyle/>
              <a:p>
                <a:pPr>
                  <a:defRPr sz="1100">
                    <a:solidFill>
                      <a:srgbClr val="1F2A37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IICT</c:v>
                </c:pt>
                <c:pt idx="1">
                  <c:v>NCL</c:v>
                </c:pt>
                <c:pt idx="2">
                  <c:v>CECRI</c:v>
                </c:pt>
                <c:pt idx="3">
                  <c:v>All three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0.022674991784423268</c:v>
                </c:pt>
                <c:pt idx="1">
                  <c:v>0.013263590509994396</c:v>
                </c:pt>
                <c:pt idx="2">
                  <c:v>0.0024734982332155478</c:v>
                </c:pt>
                <c:pt idx="3">
                  <c:v>0.015247776365946633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Unranked</c:v>
                </c:pt>
              </c:strCache>
            </c:strRef>
          </c:tx>
          <c:spPr>
            <a:solidFill>
              <a:srgbClr val="B8BEC6"/>
            </a:solidFill>
            <a:ln>
              <a:noFill/>
            </a:ln>
          </c:spPr>
          <c:dLbls>
            <c:numFmt formatCode="0%" sourceLinked="0"/>
            <c:txPr>
              <a:bodyPr/>
              <a:lstStyle/>
              <a:p>
                <a:pPr>
                  <a:defRPr sz="1100">
                    <a:solidFill>
                      <a:srgbClr val="1F2A37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IICT</c:v>
                </c:pt>
                <c:pt idx="1">
                  <c:v>NCL</c:v>
                </c:pt>
                <c:pt idx="2">
                  <c:v>CECRI</c:v>
                </c:pt>
                <c:pt idx="3">
                  <c:v>All three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0.05931646401577391</c:v>
                </c:pt>
                <c:pt idx="1">
                  <c:v>0.04726321688772651</c:v>
                </c:pt>
                <c:pt idx="2">
                  <c:v>0.025441696113074206</c:v>
                </c:pt>
                <c:pt idx="3">
                  <c:v>0.048284625158831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/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5DBE3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5DBE3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5B677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A37"/>
                </a:solidFill>
                <a:latin typeface="Calibri"/>
              </a:rPr>
              <a:t>Faculty by h-index (2016–2026 papers), count of scientists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IICT</c:v>
                </c:pt>
              </c:strCache>
            </c:strRef>
          </c:tx>
          <c:spPr>
            <a:solidFill>
              <a:srgbClr val="2B5C8F"/>
            </a:solidFill>
            <a:ln>
              <a:noFill/>
            </a:ln>
          </c:spPr>
          <c:cat>
            <c:strRef>
              <c:f>Sheet1!$A$2:$A$9</c:f>
              <c:strCache>
                <c:ptCount val="8"/>
                <c:pt idx="0">
                  <c:v>0-4</c:v>
                </c:pt>
                <c:pt idx="1">
                  <c:v>5-9</c:v>
                </c:pt>
                <c:pt idx="2">
                  <c:v>10-14</c:v>
                </c:pt>
                <c:pt idx="3">
                  <c:v>15-19</c:v>
                </c:pt>
                <c:pt idx="4">
                  <c:v>20-24</c:v>
                </c:pt>
                <c:pt idx="5">
                  <c:v>25-29</c:v>
                </c:pt>
                <c:pt idx="6">
                  <c:v>30-34</c:v>
                </c:pt>
                <c:pt idx="7">
                  <c:v>35+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82</c:v>
                </c:pt>
                <c:pt idx="1">
                  <c:v>41</c:v>
                </c:pt>
                <c:pt idx="2">
                  <c:v>19</c:v>
                </c:pt>
                <c:pt idx="3">
                  <c:v>17</c:v>
                </c:pt>
                <c:pt idx="4">
                  <c:v>5</c:v>
                </c:pt>
                <c:pt idx="5">
                  <c:v>1</c:v>
                </c:pt>
                <c:pt idx="6">
                  <c:v>2</c:v>
                </c:pt>
                <c:pt idx="7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NCL</c:v>
                </c:pt>
              </c:strCache>
            </c:strRef>
          </c:tx>
          <c:spPr>
            <a:solidFill>
              <a:srgbClr val="2E7D32"/>
            </a:solidFill>
            <a:ln>
              <a:noFill/>
            </a:ln>
          </c:spPr>
          <c:cat>
            <c:strRef>
              <c:f>Sheet1!$A$2:$A$9</c:f>
              <c:strCache>
                <c:ptCount val="8"/>
                <c:pt idx="0">
                  <c:v>0-4</c:v>
                </c:pt>
                <c:pt idx="1">
                  <c:v>5-9</c:v>
                </c:pt>
                <c:pt idx="2">
                  <c:v>10-14</c:v>
                </c:pt>
                <c:pt idx="3">
                  <c:v>15-19</c:v>
                </c:pt>
                <c:pt idx="4">
                  <c:v>20-24</c:v>
                </c:pt>
                <c:pt idx="5">
                  <c:v>25-29</c:v>
                </c:pt>
                <c:pt idx="6">
                  <c:v>30-34</c:v>
                </c:pt>
                <c:pt idx="7">
                  <c:v>35+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52</c:v>
                </c:pt>
                <c:pt idx="1">
                  <c:v>32</c:v>
                </c:pt>
                <c:pt idx="2">
                  <c:v>33</c:v>
                </c:pt>
                <c:pt idx="3">
                  <c:v>17</c:v>
                </c:pt>
                <c:pt idx="4">
                  <c:v>8</c:v>
                </c:pt>
                <c:pt idx="5">
                  <c:v>4</c:v>
                </c:pt>
                <c:pt idx="6">
                  <c:v>1</c:v>
                </c:pt>
                <c:pt idx="7">
                  <c:v>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CECRI</c:v>
                </c:pt>
              </c:strCache>
            </c:strRef>
          </c:tx>
          <c:spPr>
            <a:solidFill>
              <a:srgbClr val="D95F02"/>
            </a:solidFill>
            <a:ln>
              <a:noFill/>
            </a:ln>
          </c:spPr>
          <c:cat>
            <c:strRef>
              <c:f>Sheet1!$A$2:$A$9</c:f>
              <c:strCache>
                <c:ptCount val="8"/>
                <c:pt idx="0">
                  <c:v>0-4</c:v>
                </c:pt>
                <c:pt idx="1">
                  <c:v>5-9</c:v>
                </c:pt>
                <c:pt idx="2">
                  <c:v>10-14</c:v>
                </c:pt>
                <c:pt idx="3">
                  <c:v>15-19</c:v>
                </c:pt>
                <c:pt idx="4">
                  <c:v>20-24</c:v>
                </c:pt>
                <c:pt idx="5">
                  <c:v>25-29</c:v>
                </c:pt>
                <c:pt idx="6">
                  <c:v>30-34</c:v>
                </c:pt>
                <c:pt idx="7">
                  <c:v>35+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16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2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BE3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BE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5B677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A37"/>
                </a:solidFill>
                <a:latin typeface="Calibri"/>
              </a:rPr>
              <a:t>Share of each institute's papers by OpenAlex field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IICT</c:v>
                </c:pt>
              </c:strCache>
            </c:strRef>
          </c:tx>
          <c:spPr>
            <a:solidFill>
              <a:srgbClr val="2B5C8F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Chemistry</c:v>
                </c:pt>
                <c:pt idx="1">
                  <c:v>Engineering</c:v>
                </c:pt>
                <c:pt idx="2">
                  <c:v>Materials Science</c:v>
                </c:pt>
                <c:pt idx="3">
                  <c:v>Energy</c:v>
                </c:pt>
                <c:pt idx="4">
                  <c:v>Biochemistry, Genetics and Molecular Biology</c:v>
                </c:pt>
                <c:pt idx="5">
                  <c:v>Medicine</c:v>
                </c:pt>
                <c:pt idx="6">
                  <c:v>Environmental Science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0.37439999999999996</c:v>
                </c:pt>
                <c:pt idx="1">
                  <c:v>0.1307</c:v>
                </c:pt>
                <c:pt idx="2">
                  <c:v>0.1412</c:v>
                </c:pt>
                <c:pt idx="3">
                  <c:v>0.055</c:v>
                </c:pt>
                <c:pt idx="4">
                  <c:v>0.0824</c:v>
                </c:pt>
                <c:pt idx="5">
                  <c:v>0.0816</c:v>
                </c:pt>
                <c:pt idx="6">
                  <c:v>0.0378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NCL</c:v>
                </c:pt>
              </c:strCache>
            </c:strRef>
          </c:tx>
          <c:spPr>
            <a:solidFill>
              <a:srgbClr val="2E7D32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Chemistry</c:v>
                </c:pt>
                <c:pt idx="1">
                  <c:v>Engineering</c:v>
                </c:pt>
                <c:pt idx="2">
                  <c:v>Materials Science</c:v>
                </c:pt>
                <c:pt idx="3">
                  <c:v>Energy</c:v>
                </c:pt>
                <c:pt idx="4">
                  <c:v>Biochemistry, Genetics and Molecular Biology</c:v>
                </c:pt>
                <c:pt idx="5">
                  <c:v>Medicine</c:v>
                </c:pt>
                <c:pt idx="6">
                  <c:v>Environmental Science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0.2696</c:v>
                </c:pt>
                <c:pt idx="1">
                  <c:v>0.163</c:v>
                </c:pt>
                <c:pt idx="2">
                  <c:v>0.1949</c:v>
                </c:pt>
                <c:pt idx="3">
                  <c:v>0.0757</c:v>
                </c:pt>
                <c:pt idx="4">
                  <c:v>0.1079</c:v>
                </c:pt>
                <c:pt idx="5">
                  <c:v>0.06</c:v>
                </c:pt>
                <c:pt idx="6">
                  <c:v>0.0294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CECRI</c:v>
                </c:pt>
              </c:strCache>
            </c:strRef>
          </c:tx>
          <c:spPr>
            <a:solidFill>
              <a:srgbClr val="D95F02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Chemistry</c:v>
                </c:pt>
                <c:pt idx="1">
                  <c:v>Engineering</c:v>
                </c:pt>
                <c:pt idx="2">
                  <c:v>Materials Science</c:v>
                </c:pt>
                <c:pt idx="3">
                  <c:v>Energy</c:v>
                </c:pt>
                <c:pt idx="4">
                  <c:v>Biochemistry, Genetics and Molecular Biology</c:v>
                </c:pt>
                <c:pt idx="5">
                  <c:v>Medicine</c:v>
                </c:pt>
                <c:pt idx="6">
                  <c:v>Environmental Science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0.043</c:v>
                </c:pt>
                <c:pt idx="1">
                  <c:v>0.3726</c:v>
                </c:pt>
                <c:pt idx="2">
                  <c:v>0.2419</c:v>
                </c:pt>
                <c:pt idx="3">
                  <c:v>0.2672</c:v>
                </c:pt>
                <c:pt idx="4">
                  <c:v>0.0163</c:v>
                </c:pt>
                <c:pt idx="5">
                  <c:v>0.0055000000000000005</c:v>
                </c:pt>
                <c:pt idx="6">
                  <c:v>0.029500000000000002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5DBE3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5DBE3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5B677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A37"/>
                </a:solidFill>
                <a:latin typeface="Calibri"/>
              </a:rPr>
              <a:t>In-degree distribution (corpus papers)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Papers</c:v>
                </c:pt>
              </c:strCache>
            </c:strRef>
          </c:tx>
          <c:spPr>
            <a:solidFill>
              <a:srgbClr val="14213D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3-5</c:v>
                </c:pt>
                <c:pt idx="4">
                  <c:v>6-10</c:v>
                </c:pt>
                <c:pt idx="5">
                  <c:v>11-20</c:v>
                </c:pt>
                <c:pt idx="6">
                  <c:v>21+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6692</c:v>
                </c:pt>
                <c:pt idx="1">
                  <c:v>2675</c:v>
                </c:pt>
                <c:pt idx="2">
                  <c:v>1543</c:v>
                </c:pt>
                <c:pt idx="3">
                  <c:v>2005</c:v>
                </c:pt>
                <c:pt idx="4">
                  <c:v>995</c:v>
                </c:pt>
                <c:pt idx="5">
                  <c:v>350</c:v>
                </c:pt>
                <c:pt idx="6">
                  <c:v>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BE3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BE3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B677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A37"/>
                </a:solidFill>
                <a:latin typeface="Calibri"/>
              </a:rPr>
              <a:t>Largest communities (colour = main lab)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Authors</c:v>
                </c:pt>
              </c:strCache>
            </c:strRef>
          </c:tx>
          <c:dPt>
            <c:idx val="0"/>
            <c:spPr>
              <a:solidFill>
                <a:srgbClr val="2E7D32"/>
              </a:solidFill>
            </c:spPr>
          </c:dPt>
          <c:dPt>
            <c:idx val="1"/>
            <c:spPr>
              <a:solidFill>
                <a:srgbClr val="2B5C8F"/>
              </a:solidFill>
            </c:spPr>
          </c:dPt>
          <c:dPt>
            <c:idx val="2"/>
            <c:spPr>
              <a:solidFill>
                <a:srgbClr val="D95F02"/>
              </a:solidFill>
            </c:spPr>
          </c:dPt>
          <c:dPt>
            <c:idx val="3"/>
            <c:spPr>
              <a:solidFill>
                <a:srgbClr val="2E7D32"/>
              </a:solidFill>
            </c:spPr>
          </c:dPt>
          <c:dPt>
            <c:idx val="4"/>
            <c:spPr>
              <a:solidFill>
                <a:srgbClr val="D95F02"/>
              </a:solidFill>
            </c:spPr>
          </c:dPt>
          <c:dPt>
            <c:idx val="5"/>
            <c:spPr>
              <a:solidFill>
                <a:srgbClr val="2B5C8F"/>
              </a:solidFill>
            </c:spPr>
          </c:dPt>
          <c:dPt>
            <c:idx val="6"/>
            <c:spPr>
              <a:solidFill>
                <a:srgbClr val="2E7D32"/>
              </a:solidFill>
            </c:spPr>
          </c:dPt>
          <c:dPt>
            <c:idx val="7"/>
            <c:spPr>
              <a:solidFill>
                <a:srgbClr val="2B5C8F"/>
              </a:solidFill>
            </c:spPr>
          </c:dPt>
          <c:cat>
            <c:strRef>
              <c:f>Sheet1!$A$2:$A$9</c:f>
              <c:strCache>
                <c:ptCount val="8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  <c:pt idx="5">
                  <c:v>C6</c:v>
                </c:pt>
                <c:pt idx="6">
                  <c:v>C7</c:v>
                </c:pt>
                <c:pt idx="7">
                  <c:v>C8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575</c:v>
                </c:pt>
                <c:pt idx="1">
                  <c:v>513</c:v>
                </c:pt>
                <c:pt idx="2">
                  <c:v>483</c:v>
                </c:pt>
                <c:pt idx="3">
                  <c:v>467</c:v>
                </c:pt>
                <c:pt idx="4">
                  <c:v>459</c:v>
                </c:pt>
                <c:pt idx="5">
                  <c:v>450</c:v>
                </c:pt>
                <c:pt idx="6">
                  <c:v>449</c:v>
                </c:pt>
                <c:pt idx="7">
                  <c:v>375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BE3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BE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B677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data/final/group24_data.csv (papers, rows), data/final/faculty_master.csv (roster), stats/tables/citation_summary.csv, quartile_distribution.csv, h_index_summary.csv, conference_ranks.csv.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stats/tables/publication_trend.csv (papers, yoy_growth_pct, cagr_2016_2025).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stats/tables/quartile_distribution.csv (SJR Q1 = Q1 / journal papers with known quartile), impact_ratio_summary.csv, impact_ratio_vs_sjr.csv, impact_ratio_by_year.csv. IR thresholds are set in config/settings.yaml (impact_ratio.thresholds and quartile_percentile).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stats/tables/h_index_summary.csv, h_index_distribution.csv, faculty_performance.csv. Faculty = roster scientists matched to OpenAlex with &gt;=1 paper. Career-wide h-index was not collected.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stats/tables/top_journals.csv (ties broken by total citations).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stats/tables/top_cited_papers.csv (institution = Group 24 Combined), citation_summary.csv. Per-institute top-10 lists are in the dashboard (Venues &amp; Landmark Papers tab).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stats/tables/research_areas_field.csv, research_areas_subfield.csv, department_performance.csv. Faculty = active roster scientists in the department.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Graph: directed, nodes = corpus papers, edge = A cites B (OpenAlex referenced_works), analysed within the three labs. Sources: stats/tables/network_summary.csv, network_citation_pagerank_top10.csv, network_citation_indegree_distribution.csv, network_citation_flow_matrix.csv, citation_flow_summary.csv. Flow 'Cited by Indian' = citation links from papers involving an Indian institution other than the lab (includes the other two labs and Indian papers outside the corpus).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Graph: undirected, nodes = authors of the three labs, edge = co-authored &gt;=1 paper (weight = joint papers). Degree = distinct co-authors; betweenness estimated from 1,000 sampled sources (unweighted); communities = Louvain (seed 42) on joint-paper weights. Partner co-authors at other Indian institutions are kept in authorship_network.csv as raw data but not analysed. Sources: stats/tables/network_summary.csv, network_authorship_top_degree.csv, network_authorship_top_betweenness.csv, network_authorship_communities.csv, indian_partner_institutions.csv.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headline is generated from the metrics in stats/tables/insights/&lt;id&gt;.json by template, never typed by hand. Method notes and charts are in the dashboard Insights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rathm01s.github.io/dpcn_almost_stable/" TargetMode="Externa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hyperlink" Target="https://prathm01s.github.io/dpcn_almost_stable/" TargetMode="Externa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rathm01s.github.io/dpcn_almost_stable/" TargetMode="Externa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C9D6EA"/>
                </a:solidFill>
                <a:latin typeface="Calibri"/>
              </a:rPr>
              <a:t>DPCN 2026  ·  GROUP 24  ·  STATISTICS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858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Research output of three CSIR chemistry labs, 2016–2026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C9D6EA"/>
                </a:solidFill>
                <a:latin typeface="Calibri"/>
              </a:rPr>
              <a:t>CSIR-NCL (Pune)  ·  CSIR-IICT (Hyderabad)  ·  CSIR-CECRI (Karaikudi)  ·  OpenAlex, collected 13 Oct 2026 (2026 partial)</a:t>
            </a:r>
          </a:p>
        </p:txBody>
      </p:sp>
      <p:graphicFrame>
        <p:nvGraphicFramePr>
          <p:cNvPr id="5" name="Coverage table"/>
          <p:cNvGraphicFramePr>
            <a:graphicFrameLocks noGrp="1"/>
          </p:cNvGraphicFramePr>
          <p:nvPr/>
        </p:nvGraphicFramePr>
        <p:xfrm>
          <a:off x="502920" y="1965960"/>
          <a:ext cx="11185851" cy="1645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30639"/>
                <a:gridCol w="1012053"/>
                <a:gridCol w="1012053"/>
                <a:gridCol w="1118585"/>
                <a:gridCol w="1171851"/>
                <a:gridCol w="1171851"/>
                <a:gridCol w="1012053"/>
                <a:gridCol w="1331649"/>
                <a:gridCol w="1225117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Institute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Papers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Journal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Conference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Author rows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Citations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Q1 (SJR)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Roster scientists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With ≥1 paper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B5C8F"/>
                          </a:solidFill>
                          <a:latin typeface="Calibri"/>
                        </a:rPr>
                        <a:t>CSIR-IICT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6,167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6,086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20,183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125,231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55.1%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287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169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CSIR-NCL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5,404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5,353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14,726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134,679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67.4%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167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152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95F02"/>
                          </a:solidFill>
                          <a:latin typeface="Calibri"/>
                        </a:rPr>
                        <a:t>CSIR-CECRI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2,885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2,830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7,484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93,125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73.1%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All three (distinct)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14,352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14,166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186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42,393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350,920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63.3%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505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347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977639"/>
            <a:ext cx="541004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How the data was built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200" b="0">
                <a:solidFill>
                  <a:srgbClr val="C9D6EA"/>
                </a:solidFill>
                <a:latin typeface="Calibri"/>
              </a:rPr>
              <a:t>OpenAlex works of the three ROR-verified institutes; articles, reviews, letters and conference papers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200" b="0">
                <a:solidFill>
                  <a:srgbClr val="C9D6EA"/>
                </a:solidFill>
                <a:latin typeface="Calibri"/>
              </a:rPr>
              <a:t>Faculty = scientific cadre on official staff pages, matched to OpenAlex authors in the corpus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200" b="0">
                <a:solidFill>
                  <a:srgbClr val="C9D6EA"/>
                </a:solidFill>
                <a:latin typeface="Calibri"/>
              </a:rPr>
              <a:t>Quartile = SCImago (SJR) best quartile of the publication year (2025 values for 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8" y="3977639"/>
            <a:ext cx="541004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Limits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200" b="0">
                <a:solidFill>
                  <a:srgbClr val="C9D6EA"/>
                </a:solidFill>
                <a:latin typeface="Calibri"/>
              </a:rPr>
              <a:t>OpenAlex author and affiliation matching is imperfect; papers may be missing or mis-attributed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200" b="0">
                <a:solidFill>
                  <a:srgbClr val="C9D6EA"/>
                </a:solidFill>
                <a:latin typeface="Calibri"/>
              </a:rPr>
              <a:t>h-index uses 2016–2026 corpus papers only; students and project staff are not faculty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200" b="0">
                <a:solidFill>
                  <a:srgbClr val="C9D6EA"/>
                </a:solidFill>
                <a:latin typeface="Calibri"/>
              </a:rPr>
              <a:t>SJR may differ from JCR; none of the 186 conference papers is CORE-ranked</a:t>
            </a:r>
          </a:p>
        </p:txBody>
      </p:sp>
      <p:sp>
        <p:nvSpPr>
          <p:cNvPr id="8" name="Dashboard link"/>
          <p:cNvSpPr/>
          <p:nvPr/>
        </p:nvSpPr>
        <p:spPr>
          <a:xfrm>
            <a:off x="502920" y="5897880"/>
            <a:ext cx="6949440" cy="5029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ashboard URL"/>
          <p:cNvSpPr txBox="1"/>
          <p:nvPr/>
        </p:nvSpPr>
        <p:spPr>
          <a:xfrm>
            <a:off x="685800" y="5897880"/>
            <a:ext cx="6675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2A37"/>
                </a:solidFill>
                <a:latin typeface="Calibri"/>
              </a:rPr>
              <a:t>Interactive dashboard:  </a:t>
            </a:r>
            <a:r>
              <a:rPr sz="1400" b="1">
                <a:solidFill>
                  <a:srgbClr val="1F5FA8"/>
                </a:solidFill>
                <a:latin typeface="Calibri"/>
                <a:hlinkClick r:id="rId2"/>
              </a:rPr>
              <a:t>https://prathm01s.github.io/dpcn_almost_stable/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Publication trend chart"/>
          <p:cNvGraphicFramePr>
            <a:graphicFrameLocks noGrp="1"/>
          </p:cNvGraphicFramePr>
          <p:nvPr/>
        </p:nvGraphicFramePr>
        <p:xfrm>
          <a:off x="502920" y="1508760"/>
          <a:ext cx="758952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Publication trend</a:t>
            </a:r>
          </a:p>
        </p:txBody>
      </p:sp>
      <p:sp>
        <p:nvSpPr>
          <p:cNvPr id="4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14,352 distinct papers in 2016–2026; IICT 43% of them, NCL 38%, CECRI 20%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2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508760"/>
            <a:ext cx="3276295" cy="46634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13648" y="1691640"/>
            <a:ext cx="2873959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Calibri"/>
              </a:rPr>
              <a:t>Totals and growth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2B5C8F"/>
                </a:solidFill>
                <a:latin typeface="Calibri"/>
              </a:rPr>
              <a:t>IICT: </a:t>
            </a:r>
            <a:r>
              <a:rPr sz="1300" b="0">
                <a:solidFill>
                  <a:srgbClr val="1F2A37"/>
                </a:solidFill>
                <a:latin typeface="Calibri"/>
              </a:rPr>
              <a:t>6,167 papers; CAGR 2016→2025 −4.9%; peak year 2016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NCL: </a:t>
            </a:r>
            <a:r>
              <a:rPr sz="1300" b="0">
                <a:solidFill>
                  <a:srgbClr val="1F2A37"/>
                </a:solidFill>
                <a:latin typeface="Calibri"/>
              </a:rPr>
              <a:t>5,404 papers; CAGR 2016→2025 −4.2%; peak year 2016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D95F02"/>
                </a:solidFill>
                <a:latin typeface="Calibri"/>
              </a:rPr>
              <a:t>CECRI: </a:t>
            </a:r>
            <a:r>
              <a:rPr sz="1300" b="0">
                <a:solidFill>
                  <a:srgbClr val="1F2A37"/>
                </a:solidFill>
                <a:latin typeface="Calibri"/>
              </a:rPr>
              <a:t>2,885 papers; CAGR 2016→2025 +0.1%; peak year 2018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F2A37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1F2A37"/>
                </a:solidFill>
                <a:latin typeface="Calibri"/>
              </a:rPr>
              <a:t>Observations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300" b="0">
                <a:solidFill>
                  <a:srgbClr val="1F2A37"/>
                </a:solidFill>
                <a:latin typeface="Calibri"/>
              </a:rPr>
              <a:t>Combined output went from 1,739 papers in 2016 to 1,220 in 2025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300" b="0">
                <a:solidFill>
                  <a:srgbClr val="1F2A37"/>
                </a:solidFill>
                <a:latin typeface="Calibri"/>
              </a:rPr>
              <a:t>Growth rates differ in sign across the three labs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300" b="0">
                <a:solidFill>
                  <a:srgbClr val="1F2A37"/>
                </a:solidFill>
                <a:latin typeface="Calibri"/>
              </a:rPr>
              <a:t>2026 covers papers to 13 Oct only (934 so far) and is left out of CAGR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stats/tables/publication_trend.csv · Papers counted once per institute; combined counts distinct papers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Quartile chart"/>
          <p:cNvGraphicFramePr>
            <a:graphicFrameLocks noGrp="1"/>
          </p:cNvGraphicFramePr>
          <p:nvPr/>
        </p:nvGraphicFramePr>
        <p:xfrm>
          <a:off x="502920" y="1508760"/>
          <a:ext cx="576072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Journal quartiles and citation impact ratio</a:t>
            </a:r>
          </a:p>
        </p:txBody>
      </p:sp>
      <p:sp>
        <p:nvSpPr>
          <p:cNvPr id="4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63.3% of ranked journal papers are in SJR-Q1 journals; Q1 by impact ratio (IR &gt; 0.59, top 25% of papers) ranges from 22.0% (IICT) to 34.0% (CECRI)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508760"/>
            <a:ext cx="51050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2A37"/>
                </a:solidFill>
                <a:latin typeface="Calibri"/>
              </a:rPr>
              <a:t>Q1 by journal vs Q1 by impact ratio (% of papers)</a:t>
            </a:r>
          </a:p>
        </p:txBody>
      </p:sp>
      <p:graphicFrame>
        <p:nvGraphicFramePr>
          <p:cNvPr id="7" name="IR table"/>
          <p:cNvGraphicFramePr>
            <a:graphicFrameLocks noGrp="1"/>
          </p:cNvGraphicFramePr>
          <p:nvPr/>
        </p:nvGraphicFramePr>
        <p:xfrm>
          <a:off x="6583680" y="1874519"/>
          <a:ext cx="5105092" cy="1645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50227"/>
                <a:gridCol w="1354412"/>
                <a:gridCol w="1354412"/>
                <a:gridCol w="1146041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Institute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Q1 by journal (SJR)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Q1 by IR (IR &gt; 0.59)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Institute IR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B5C8F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55.1%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0.41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67.4%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24.1%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0.47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95F02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73.1%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34.0%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0.59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All three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63.3%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25.2%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0.47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0" y="3840480"/>
            <a:ext cx="51050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A37"/>
                </a:solidFill>
                <a:latin typeface="Calibri"/>
              </a:rPr>
              <a:t>Impact ratio (IR) </a:t>
            </a:r>
            <a:r>
              <a:rPr sz="1200" b="0">
                <a:solidFill>
                  <a:srgbClr val="1F2A37"/>
                </a:solidFill>
                <a:latin typeface="Calibri"/>
              </a:rPr>
              <a:t>= citations received ÷ citations made (references). A paper is IR‑Q1 when IR exceeds the threshold; the institute IR is all citations received ÷ all references made.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200" b="0">
                <a:solidFill>
                  <a:srgbClr val="1F2A37"/>
                </a:solidFill>
                <a:latin typeface="Calibri"/>
              </a:rPr>
              <a:t>Threshold IR &gt; 0.59 is the 75th percentile of IR over all papers, so IR‑Q1 is the top 25% of papers — the same share a quartile covers (median paper IR 0.26).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200" b="0">
                <a:solidFill>
                  <a:srgbClr val="1F2A37"/>
                </a:solidFill>
                <a:latin typeface="Calibri"/>
              </a:rPr>
              <a:t>The two definitions disagree: only 32.9% of papers in SJR-Q1 journals are top‑25% by IR. SJR ranks the journal; IR ranks the paper.</a:t>
            </a:r>
          </a:p>
          <a:p>
            <a:pPr algn="l" marL="182880" indent="-182880">
              <a:spcAft>
                <a:spcPts val="500"/>
              </a:spcAft>
              <a:buChar char="•"/>
            </a:pPr>
            <a:r>
              <a:rPr sz="1200" b="0">
                <a:solidFill>
                  <a:srgbClr val="1F2A37"/>
                </a:solidFill>
                <a:latin typeface="Calibri"/>
              </a:rPr>
              <a:t>Older papers have had longer to be cited; 513 papers with no references in OpenAlex are excluded.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stats/tables/quartile_distribution.csv, impact_ratio_summary.csv, impact_ratio_vs_sjr.csv · SJR best quartile (Scopus-based); IR from OpenAlex citations (13 Oct) and 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h-index histogram"/>
          <p:cNvGraphicFramePr>
            <a:graphicFrameLocks noGrp="1"/>
          </p:cNvGraphicFramePr>
          <p:nvPr/>
        </p:nvGraphicFramePr>
        <p:xfrm>
          <a:off x="502920" y="1508760"/>
          <a:ext cx="603504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Faculty h-index distribution</a:t>
            </a:r>
          </a:p>
        </p:txBody>
      </p:sp>
      <p:sp>
        <p:nvSpPr>
          <p:cNvPr id="4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Median h-index of the 347 roster scientists with papers is 6; CECRI 2.5, NCL 8, IICT 5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4 / 10</a:t>
            </a:r>
          </a:p>
        </p:txBody>
      </p:sp>
      <p:graphicFrame>
        <p:nvGraphicFramePr>
          <p:cNvPr id="6" name="h-index summary"/>
          <p:cNvGraphicFramePr>
            <a:graphicFrameLocks noGrp="1"/>
          </p:cNvGraphicFramePr>
          <p:nvPr/>
        </p:nvGraphicFramePr>
        <p:xfrm>
          <a:off x="6858000" y="1508760"/>
          <a:ext cx="4830773" cy="1463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90820"/>
                <a:gridCol w="779157"/>
                <a:gridCol w="779157"/>
                <a:gridCol w="779157"/>
                <a:gridCol w="701241"/>
                <a:gridCol w="701241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Institute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Faculty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Median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P75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Max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B5C8F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169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7.0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152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9.8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D95F02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11.9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23.5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347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8.6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0" y="3246120"/>
            <a:ext cx="4830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2A37"/>
                </a:solidFill>
                <a:latin typeface="Calibri"/>
              </a:rPr>
              <a:t>Highest h-index (2016–2026 window)</a:t>
            </a:r>
          </a:p>
        </p:txBody>
      </p:sp>
      <p:graphicFrame>
        <p:nvGraphicFramePr>
          <p:cNvPr id="8" name="Top faculty table"/>
          <p:cNvGraphicFramePr>
            <a:graphicFrameLocks noGrp="1"/>
          </p:cNvGraphicFramePr>
          <p:nvPr/>
        </p:nvGraphicFramePr>
        <p:xfrm>
          <a:off x="6858000" y="3611880"/>
          <a:ext cx="4830773" cy="1920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93335"/>
                <a:gridCol w="644103"/>
                <a:gridCol w="724616"/>
                <a:gridCol w="885642"/>
                <a:gridCol w="483077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Top faculty by h-index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Lab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Papers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Citations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Dr Subrata Kundu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260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15,767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Dr. S. Venkata Mohan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230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11,389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Dr. Sreekumar Kurungot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181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8,978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Dr. Subashchandrabose Chi…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3,617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Dr. Ujjwal Pal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148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4,758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Dr. Vinod C Prabhakaran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152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4,752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9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stats/tables/h_index_summary.csv, h_index_distribution.csv, faculty_performance.csv · h-index on 2016–2026 corpus papers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Top 5 journals per institute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Most frequent venues: IICT – ChemistrySelect (239); NCL – ChemistrySelect (140); CECRI – Electrochimica Acta (77)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5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3545738" cy="502920"/>
          </a:xfrm>
          <a:prstGeom prst="roundRect">
            <a:avLst>
              <a:gd name="adj" fmla="val 8000"/>
            </a:avLst>
          </a:prstGeom>
          <a:solidFill>
            <a:srgbClr val="2B5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508760"/>
            <a:ext cx="321655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CSIR-IICT</a:t>
            </a:r>
            <a:r>
              <a:rPr sz="1200" b="0">
                <a:solidFill>
                  <a:srgbClr val="FFFFFF"/>
                </a:solidFill>
                <a:latin typeface="Calibri"/>
              </a:rPr>
              <a:t>   6,167 papers</a:t>
            </a:r>
          </a:p>
        </p:txBody>
      </p:sp>
      <p:graphicFrame>
        <p:nvGraphicFramePr>
          <p:cNvPr id="7" name="Journals IICT"/>
          <p:cNvGraphicFramePr>
            <a:graphicFrameLocks noGrp="1"/>
          </p:cNvGraphicFramePr>
          <p:nvPr/>
        </p:nvGraphicFramePr>
        <p:xfrm>
          <a:off x="502920" y="2148840"/>
          <a:ext cx="3545736" cy="34015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3277"/>
                <a:gridCol w="1832853"/>
                <a:gridCol w="633167"/>
                <a:gridCol w="566518"/>
                <a:gridCol w="299921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Journal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Papers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ChemistrySelect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239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Organic &amp; Biomolecular Chemistry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144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2.4%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Tetrahedron Letters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ChemInform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122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2.0%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The Journal of Organic Chemistry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322978" y="1508760"/>
            <a:ext cx="3545738" cy="50292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7570" y="1508760"/>
            <a:ext cx="321655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CSIR-NCL</a:t>
            </a:r>
            <a:r>
              <a:rPr sz="1200" b="0">
                <a:solidFill>
                  <a:srgbClr val="FFFFFF"/>
                </a:solidFill>
                <a:latin typeface="Calibri"/>
              </a:rPr>
              <a:t>   5,404 papers</a:t>
            </a:r>
          </a:p>
        </p:txBody>
      </p:sp>
      <p:graphicFrame>
        <p:nvGraphicFramePr>
          <p:cNvPr id="10" name="Journals NCL"/>
          <p:cNvGraphicFramePr>
            <a:graphicFrameLocks noGrp="1"/>
          </p:cNvGraphicFramePr>
          <p:nvPr/>
        </p:nvGraphicFramePr>
        <p:xfrm>
          <a:off x="4322978" y="2148840"/>
          <a:ext cx="3545736" cy="34015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3277"/>
                <a:gridCol w="1832853"/>
                <a:gridCol w="633167"/>
                <a:gridCol w="566518"/>
                <a:gridCol w="299921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Journal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Papers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ChemistrySelect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Chemical Communications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116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2.2%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The Journal of Organic Chemistry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106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ACS Omega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97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1.8%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Organic Letters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143037" y="1508760"/>
            <a:ext cx="3545738" cy="502920"/>
          </a:xfrm>
          <a:prstGeom prst="roundRect">
            <a:avLst>
              <a:gd name="adj" fmla="val 8000"/>
            </a:avLst>
          </a:prstGeom>
          <a:solidFill>
            <a:srgbClr val="D95F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7629" y="1508760"/>
            <a:ext cx="321655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CSIR-CECRI</a:t>
            </a:r>
            <a:r>
              <a:rPr sz="1200" b="0">
                <a:solidFill>
                  <a:srgbClr val="FFFFFF"/>
                </a:solidFill>
                <a:latin typeface="Calibri"/>
              </a:rPr>
              <a:t>   2,885 papers</a:t>
            </a:r>
          </a:p>
        </p:txBody>
      </p:sp>
      <p:graphicFrame>
        <p:nvGraphicFramePr>
          <p:cNvPr id="13" name="Journals CECRI"/>
          <p:cNvGraphicFramePr>
            <a:graphicFrameLocks noGrp="1"/>
          </p:cNvGraphicFramePr>
          <p:nvPr/>
        </p:nvGraphicFramePr>
        <p:xfrm>
          <a:off x="8143037" y="2148840"/>
          <a:ext cx="3545736" cy="34015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3277"/>
                <a:gridCol w="1832853"/>
                <a:gridCol w="633167"/>
                <a:gridCol w="566518"/>
                <a:gridCol w="299921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Journal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Papers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</a:t>
                      </a:r>
                    </a:p>
                  </a:txBody>
                  <a:tcPr marL="54864" marR="54864" marT="27432" marB="27432" anchor="ctr">
                    <a:solidFill>
                      <a:srgbClr val="1F2A3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Electrochimica Acta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Journal of Materials Chemistry A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2.4%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ChemistrySelect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New Journal of Chemistry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2.3%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International Journal of Hydrogen…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02920" y="5715000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F2A37"/>
                </a:solidFill>
                <a:latin typeface="Calibri"/>
              </a:rPr>
              <a:t>All three combined: </a:t>
            </a:r>
            <a:r>
              <a:rPr sz="1300" b="0">
                <a:solidFill>
                  <a:srgbClr val="1F2A37"/>
                </a:solidFill>
                <a:latin typeface="Calibri"/>
              </a:rPr>
              <a:t>ChemistrySelect (443); New Journal of Chemistry (270); RSC Advances (245); Chemical Communications (239); The Journal of Organic Chemistry (225)</a:t>
            </a:r>
          </a:p>
        </p:txBody>
      </p:sp>
      <p:sp>
        <p:nvSpPr>
          <p:cNvPr id="15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stats/tables/top_journals.csv · ranked by distinct papers; share = % of the institute's papers; Q = SJR quartile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Top 10 most-cited papers (all three institutes)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350,920 citations in total; mean 24.4 and median 11 per paper; the top paper has 2,493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6 / 10</a:t>
            </a:r>
          </a:p>
        </p:txBody>
      </p:sp>
      <p:graphicFrame>
        <p:nvGraphicFramePr>
          <p:cNvPr id="5" name="Top cited table"/>
          <p:cNvGraphicFramePr>
            <a:graphicFrameLocks noGrp="1"/>
          </p:cNvGraphicFramePr>
          <p:nvPr/>
        </p:nvGraphicFramePr>
        <p:xfrm>
          <a:off x="502920" y="1481328"/>
          <a:ext cx="11185852" cy="41239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1148"/>
                <a:gridCol w="4874769"/>
                <a:gridCol w="1828038"/>
                <a:gridCol w="478772"/>
                <a:gridCol w="739920"/>
                <a:gridCol w="739920"/>
                <a:gridCol w="2263285"/>
              </a:tblGrid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Journal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Lab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Citations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DOI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Recent Trends and Perspectives in Electrochemical Water Splitting with an Emphasis on Sulfi…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ACS Catalysis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2,493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10.1021/acscatal.6b02479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Cancer chemotherapy and beyond: Current status, drug candidates, associated risks and progr…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Genes &amp; Diseases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1,826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10.1016/j.gendis.2022.02.007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Precision and correctness in the evaluation of electrocatalytic water splitting: revisiting…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Energy &amp; Environmental Science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2018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1,623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10.1039/c7ee03457a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Covalent Organic Frameworks: Chemistry beyond the Structure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Journal of the American Chemi…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2018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1,574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10.1021/jacs.8b10334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Phytochemicals in Cancer Treatment: From Preclinical Studies to Clinical Practice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Frontiers in Pharmacology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1,085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10.3389/fphar.2019.01614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Selective Molecular Separation by Interfacially Crystallized Covalent Organic Framework Thi…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Journal of the American Chemi…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2017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1,060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10.1021/jacs.7b06640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Cooperativity in Noncovalent Interactions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Chemical Reviews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932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10.1021/cr500344e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“The Fe Effect”: A review unveiling the critical roles of Fe in enhancing OER activity of N…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Nano Energy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2020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931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10.1016/j.nanoen.2020.105514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Functional Naphthalene Diimides: Synthesis, Properties, and Applications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Chemical Reviews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927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10.1021/acs.chemrev.6b00160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Polylactic acid: synthesis and biomedical applications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Journal of Applied Microbiolo…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2019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873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10.1111/jam.14290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833872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F2A37"/>
                </a:solidFill>
                <a:latin typeface="Calibri"/>
              </a:rPr>
              <a:t>IICT: 125,231 citations, mean 20.3, uncited 12.2%   ·   NCL: 134,679 citations, mean 24.9, uncited 11.0%   ·   CECRI: 93,125 citations, mean 32.3, uncited 6.8%</a:t>
            </a:r>
          </a:p>
        </p:txBody>
      </p:sp>
      <p:sp>
        <p:nvSpPr>
          <p:cNvPr id="7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stats/tables/top_cited_papers.csv, citation_summary.csv · OpenAlex cited_by_count on 13 Oct 2026; older papers have had longer to accrue citations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Research area chart"/>
          <p:cNvGraphicFramePr>
            <a:graphicFrameLocks noGrp="1"/>
          </p:cNvGraphicFramePr>
          <p:nvPr/>
        </p:nvGraphicFramePr>
        <p:xfrm>
          <a:off x="502920" y="1508760"/>
          <a:ext cx="630936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Research areas and departments</a:t>
            </a:r>
          </a:p>
        </p:txBody>
      </p:sp>
      <p:sp>
        <p:nvSpPr>
          <p:cNvPr id="4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Largest field: IICT – Chemistry (37%), NCL – Chemistry (27%), CECRI – Engineering (37%)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508760"/>
            <a:ext cx="45564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2A37"/>
                </a:solidFill>
                <a:latin typeface="Calibri"/>
              </a:rPr>
              <a:t>Top 2 departments per institute by papers</a:t>
            </a:r>
          </a:p>
        </p:txBody>
      </p:sp>
      <p:graphicFrame>
        <p:nvGraphicFramePr>
          <p:cNvPr id="7" name="Department table"/>
          <p:cNvGraphicFramePr>
            <a:graphicFrameLocks noGrp="1"/>
          </p:cNvGraphicFramePr>
          <p:nvPr/>
        </p:nvGraphicFramePr>
        <p:xfrm>
          <a:off x="7132320" y="1874519"/>
          <a:ext cx="4556453" cy="3200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0838"/>
                <a:gridCol w="555665"/>
                <a:gridCol w="592709"/>
                <a:gridCol w="592709"/>
                <a:gridCol w="44453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Department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Lab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Faculty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Papers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Applied Biology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509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56%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Polymers &amp; Functional Materials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504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68%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Physical and Materials Chemistry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1,195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73%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Organic Chemistry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764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59%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Electrochemical Process Engineering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350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89%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Electrodics and Electrocatalysis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142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>
                          <a:solidFill>
                            <a:srgbClr val="1F2A37"/>
                          </a:solidFill>
                          <a:latin typeface="Calibri"/>
                        </a:rPr>
                        <a:t>75%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32320" y="5166360"/>
            <a:ext cx="45564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776"/>
                </a:solidFill>
                <a:latin typeface="Calibri"/>
              </a:rPr>
              <a:t>Department = roster division of each faculty member; a paper counts in every department of its faculty authors. Papers by non-roster authors only are not assigned to a department.</a:t>
            </a:r>
          </a:p>
        </p:txBody>
      </p:sp>
      <p:sp>
        <p:nvSpPr>
          <p:cNvPr id="9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stats/tables/research_areas_field.csv, department_performance.csv · field = OpenAlex primary topic → field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Citation network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27,268 citation links among 10,988 corpus papers; 1,653 cross between labs. With other Indian institutions: 88,639 citations in, 87,292 out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8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2590724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572768"/>
            <a:ext cx="22615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F2A37"/>
                </a:solidFill>
                <a:latin typeface="Calibri"/>
              </a:rPr>
              <a:t>10,988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776"/>
                </a:solidFill>
                <a:latin typeface="Calibri"/>
              </a:rPr>
              <a:t>papers in the in-corpus citation graph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7964" y="1463040"/>
            <a:ext cx="2590724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32556" y="1572768"/>
            <a:ext cx="22615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F2A37"/>
                </a:solidFill>
                <a:latin typeface="Calibri"/>
              </a:rPr>
              <a:t>7,627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776"/>
                </a:solidFill>
                <a:latin typeface="Calibri"/>
              </a:rPr>
              <a:t>papers cited ≥1 time within corpus (max in-degree 129)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8" y="1463040"/>
            <a:ext cx="2590724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7600" y="1572768"/>
            <a:ext cx="22615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F2A37"/>
                </a:solidFill>
                <a:latin typeface="Calibri"/>
              </a:rPr>
              <a:t>1,653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776"/>
                </a:solidFill>
                <a:latin typeface="Calibri"/>
              </a:rPr>
              <a:t>citation links between the three labs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051" y="1463040"/>
            <a:ext cx="2590724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62643" y="1572768"/>
            <a:ext cx="22615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F2A37"/>
                </a:solidFill>
                <a:latin typeface="Calibri"/>
              </a:rPr>
              <a:t>1.01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776"/>
                </a:solidFill>
                <a:latin typeface="Calibri"/>
              </a:rPr>
              <a:t>in / out citation ratio with other Indian institutions</a:t>
            </a:r>
          </a:p>
        </p:txBody>
      </p:sp>
      <p:graphicFrame>
        <p:nvGraphicFramePr>
          <p:cNvPr id="13" name="PageRank table"/>
          <p:cNvGraphicFramePr>
            <a:graphicFrameLocks noGrp="1"/>
          </p:cNvGraphicFramePr>
          <p:nvPr/>
        </p:nvGraphicFramePr>
        <p:xfrm>
          <a:off x="502920" y="2514600"/>
          <a:ext cx="6812278" cy="3621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491"/>
                <a:gridCol w="3996537"/>
                <a:gridCol w="817473"/>
                <a:gridCol w="499567"/>
                <a:gridCol w="544982"/>
                <a:gridCol w="681228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PageRank top 10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Lab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In-deg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Recent Trends and Perspectives in Electrochemical Water…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129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0.0030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Pt Nanoparticle Anchored Molecular Self-Assemblies of D…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0.0028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Unprotected and interconnected Ru 0 nano-chain networks…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0.0027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Functional Naphthalene Diimides: Synthesis, Properties,…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0.0020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Precision and correctness in the evaluation of electroc…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2018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0.0018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Waste biorefinery models towards sustainable circular b…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0.0017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Regulation of acidogenic metabolism towards enhanced sh…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0.0016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Pharmaceutical cocrystals: walking the talk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0.0016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Facile and scalable route to sheets-on-sheet mesoporous…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0.0015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Recent advances in N-heterocyclic carbene (NHC)-catalys…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0.0015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In-degree chart"/>
          <p:cNvGraphicFramePr>
            <a:graphicFrameLocks noGrp="1"/>
          </p:cNvGraphicFramePr>
          <p:nvPr/>
        </p:nvGraphicFramePr>
        <p:xfrm>
          <a:off x="7589520" y="2468880"/>
          <a:ext cx="4099255" cy="1965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589520" y="4526280"/>
            <a:ext cx="40992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A37"/>
                </a:solidFill>
                <a:latin typeface="Calibri"/>
              </a:rPr>
              <a:t>Citation flow with other Indian institutions</a:t>
            </a:r>
          </a:p>
        </p:txBody>
      </p:sp>
      <p:graphicFrame>
        <p:nvGraphicFramePr>
          <p:cNvPr id="16" name="Indian flow table"/>
          <p:cNvGraphicFramePr>
            <a:graphicFrameLocks noGrp="1"/>
          </p:cNvGraphicFramePr>
          <p:nvPr/>
        </p:nvGraphicFramePr>
        <p:xfrm>
          <a:off x="7589520" y="4800600"/>
          <a:ext cx="4099253" cy="1097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28756"/>
                <a:gridCol w="1002040"/>
                <a:gridCol w="910945"/>
                <a:gridCol w="637661"/>
                <a:gridCol w="819851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Lab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Cited by Indian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Cites Indian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In/out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Citing insts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B5C8F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32,840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38,891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0.84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1,816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32,434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30,206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1.07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1,683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D95F02"/>
                          </a:solidFill>
                          <a:latin typeface="Calibri"/>
                        </a:rPr>
                        <a:t>CECRI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23,365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18,195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1.28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1,310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stats/tables/network_summary.csv, network_citation_*.csv, citation_flow_summary.csv · in-degree = citations from other corpus papers; flows count links to DOI-bearing papers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Authorship network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7,864 authors, 35,423 co-author pairs; Louvain finds 130 communities (modularity 0.81), almost all within a single lab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9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2590724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572768"/>
            <a:ext cx="22615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F2A37"/>
                </a:solidFill>
                <a:latin typeface="Calibri"/>
              </a:rPr>
              <a:t>7,864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776"/>
                </a:solidFill>
                <a:latin typeface="Calibri"/>
              </a:rPr>
              <a:t>authors; 96% in the largest connected component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7964" y="1463040"/>
            <a:ext cx="2590724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32556" y="1572768"/>
            <a:ext cx="22615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F2A37"/>
                </a:solidFill>
                <a:latin typeface="Calibri"/>
              </a:rPr>
              <a:t>9.0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776"/>
                </a:solidFill>
                <a:latin typeface="Calibri"/>
              </a:rPr>
              <a:t>mean number of distinct co-authors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8" y="1463040"/>
            <a:ext cx="2590724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7600" y="1572768"/>
            <a:ext cx="22615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F2A37"/>
                </a:solidFill>
                <a:latin typeface="Calibri"/>
              </a:rPr>
              <a:t>130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776"/>
                </a:solidFill>
                <a:latin typeface="Calibri"/>
              </a:rPr>
              <a:t>Louvain communities (31 with ≥10 authors)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051" y="1463040"/>
            <a:ext cx="2590724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62643" y="1572768"/>
            <a:ext cx="22615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1F2A37"/>
                </a:solidFill>
                <a:latin typeface="Calibri"/>
              </a:rPr>
              <a:t>525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B6776"/>
                </a:solidFill>
                <a:latin typeface="Calibri"/>
              </a:rPr>
              <a:t>co-authorship links between the three labs</a:t>
            </a:r>
          </a:p>
        </p:txBody>
      </p:sp>
      <p:graphicFrame>
        <p:nvGraphicFramePr>
          <p:cNvPr id="13" name="Degree table"/>
          <p:cNvGraphicFramePr>
            <a:graphicFrameLocks noGrp="1"/>
          </p:cNvGraphicFramePr>
          <p:nvPr/>
        </p:nvGraphicFramePr>
        <p:xfrm>
          <a:off x="502920" y="2514600"/>
          <a:ext cx="6812279" cy="3621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3845"/>
                <a:gridCol w="2743835"/>
                <a:gridCol w="662305"/>
                <a:gridCol w="709612"/>
                <a:gridCol w="946150"/>
                <a:gridCol w="804227"/>
                <a:gridCol w="662305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Most collaborative (degree)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Lab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Degree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Betweenness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Btw rank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Comm.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Balasubramanian Sridhar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380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0.096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#1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Dr. Jagadeesh Babu Nanubolu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285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0.090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#2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Dr. Rajesh G. Gonnade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280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0.061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#5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Dr. Sunil Misra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198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0.055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#7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Dr. B.V. Subba Reddy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196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0.057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#6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Dr. Kumar Vanka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195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0.044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#9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Dr. Sreekumar Kurungot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NCL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154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Chityal Ganesh Kumar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152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0.012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Dr. Andugulapati Sai Balagi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151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0.019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Ramakrishna Sistla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IICT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150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0.064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#4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Community chart"/>
          <p:cNvGraphicFramePr>
            <a:graphicFrameLocks noGrp="1"/>
          </p:cNvGraphicFramePr>
          <p:nvPr/>
        </p:nvGraphicFramePr>
        <p:xfrm>
          <a:off x="7589520" y="2468880"/>
          <a:ext cx="4099255" cy="1965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589520" y="4526280"/>
            <a:ext cx="4099255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2A37"/>
                </a:solidFill>
                <a:latin typeface="Calibri"/>
              </a:rPr>
              <a:t>Top brokers by betweenness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2B5C8F"/>
                </a:solidFill>
                <a:latin typeface="Calibri"/>
              </a:rPr>
              <a:t>Balasubramanian Sridhar </a:t>
            </a:r>
            <a:r>
              <a:rPr sz="1100" b="0">
                <a:solidFill>
                  <a:srgbClr val="1F2A37"/>
                </a:solidFill>
                <a:latin typeface="Calibri"/>
              </a:rPr>
              <a:t>IICT · 0.096 · degree 380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2B5C8F"/>
                </a:solidFill>
                <a:latin typeface="Calibri"/>
              </a:rPr>
              <a:t>Dr. Jagadeesh Babu Nanubolu </a:t>
            </a:r>
            <a:r>
              <a:rPr sz="1100" b="0">
                <a:solidFill>
                  <a:srgbClr val="1F2A37"/>
                </a:solidFill>
                <a:latin typeface="Calibri"/>
              </a:rPr>
              <a:t>IICT · 0.090 · degree 285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D95F02"/>
                </a:solidFill>
                <a:latin typeface="Calibri"/>
              </a:rPr>
              <a:t>Dr Subrata Kundu </a:t>
            </a:r>
            <a:r>
              <a:rPr sz="1100" b="0">
                <a:solidFill>
                  <a:srgbClr val="1F2A37"/>
                </a:solidFill>
                <a:latin typeface="Calibri"/>
              </a:rPr>
              <a:t>CECRI · 0.072 · degree 137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2B5C8F"/>
                </a:solidFill>
                <a:latin typeface="Calibri"/>
              </a:rPr>
              <a:t>Ramakrishna Sistla </a:t>
            </a:r>
            <a:r>
              <a:rPr sz="1100" b="0">
                <a:solidFill>
                  <a:srgbClr val="1F2A37"/>
                </a:solidFill>
                <a:latin typeface="Calibri"/>
              </a:rPr>
              <a:t>IICT · 0.064 · degree 150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1F2A37"/>
                </a:solidFill>
                <a:latin typeface="Calibri"/>
              </a:rPr>
              <a:t>Top Indian partners: </a:t>
            </a:r>
            <a:r>
              <a:rPr sz="1100" b="0">
                <a:solidFill>
                  <a:srgbClr val="1F2A37"/>
                </a:solidFill>
                <a:latin typeface="Calibri"/>
              </a:rPr>
              <a:t>Academy of Scientific and Innovative Research (641); Savitribai Phule Pune University (375); Council of Scientific and Industrial Research (337)</a:t>
            </a:r>
          </a:p>
        </p:txBody>
      </p:sp>
      <p:sp>
        <p:nvSpPr>
          <p:cNvPr id="16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stats/tables/network_summary.csv, network_authorship_*.csv, indian_partner_institutions.csv · interactive graphs: </a:t>
            </a:r>
            <a:r>
              <a:rPr sz="1000">
                <a:solidFill>
                  <a:srgbClr val="1F5FA8"/>
                </a:solidFill>
                <a:latin typeface="Calibri"/>
                <a:hlinkClick r:id="rId3"/>
              </a:rPr>
              <a:t>https://prathm01s.github.io/dpcn_almost_stable/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2920" y="3657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F2A37"/>
                </a:solidFill>
                <a:latin typeface="Cambria"/>
              </a:rPr>
              <a:t>Ten non-obvious findings</a:t>
            </a:r>
          </a:p>
        </p:txBody>
      </p:sp>
      <p:sp>
        <p:nvSpPr>
          <p:cNvPr id="3" name="Key message"/>
          <p:cNvSpPr txBox="1"/>
          <p:nvPr/>
        </p:nvSpPr>
        <p:spPr>
          <a:xfrm>
            <a:off x="502920" y="9326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B6776"/>
                </a:solidFill>
                <a:latin typeface="Calibri"/>
              </a:rPr>
              <a:t>Each finding answers one question; charts and method notes are in the dashboard's Insights tab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0957255" y="4389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776"/>
                </a:solidFill>
                <a:latin typeface="Calibri"/>
              </a:rPr>
              <a:t>10 / 10</a:t>
            </a:r>
          </a:p>
        </p:txBody>
      </p:sp>
      <p:graphicFrame>
        <p:nvGraphicFramePr>
          <p:cNvPr id="5" name="Findings table"/>
          <p:cNvGraphicFramePr>
            <a:graphicFrameLocks noGrp="1"/>
          </p:cNvGraphicFramePr>
          <p:nvPr/>
        </p:nvGraphicFramePr>
        <p:xfrm>
          <a:off x="502920" y="1325880"/>
          <a:ext cx="11185854" cy="4023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3939"/>
                <a:gridCol w="1597979"/>
                <a:gridCol w="9313936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Finding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54864" marR="54864" marT="27432" marB="27432" anchor="ctr">
                    <a:solidFill>
                      <a:srgbClr val="1421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Friendship paradox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93.2% of researchers have fewer co-authors than their co-authors do. The average researcher has 9.2 co-authors, but the average co-author has 31.1.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Rich club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The top 1% most-connected researchers show no rich-club effect and are less interconnected than chance (ρ_norm = 0.74). 41 of 78 are CSIR faculty.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Network fragility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Removing the top 872 bridge researchers (11.6% of the network) halves the cluster; random removal needs 3,279. Removing 608 of them separates the three labs' faculty into different components.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Concentration (Price's law)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√N = 19 scientists produce 36.2% of the cluster's papers (Price's law predicts 50%). The top 10% produce 50.3%; Gini = 0.63 (papers), 0.75 (citations).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Journal quartile vs impact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11.3% of the cluster's top-10% most-cited papers were published outside Q1 journals, while 1.4% of Q1 papers are still uncited.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Local vs global influence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In-cluster influence and global citations correlate only moderately (Spearman ρ = 0.40). 43 papers are 'hidden gems': top-5% internal influence, below-median global citations.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Sleeping beauties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2 of the 7 strongest candidates (top 1% of 602 papers by Ke's B) show sustained delayed recognition. The strongest, 'Funnel shaped molecules containing benzo/pyrido[1,2,5]thiadiazole f…' (IICT, 2016), drew 1.4 citations/yr for 5 years, then 4.7/yr from 2021.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COVID shock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Output was 1.8% above the 2016–19 trend in 2020 and 12.7% above in 2021. COVID-related work peaked at 5.5% of CSIR-IICT's papers in 2021; the topic mix shifted about as much as in a normal period (JSD ratio 1.05).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Brain circulation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15.7% of classifiable CSIR scientists are returnees (NCL 18.3% (n=142), IICT 13.5% (n=133), CECRI 11.1% (n=18)); their abroad spell was most often in the US (25 of 46). Their papers' citations do not differ significantly from home-grown peers of similar career age (+2%, 95% CI -24% to +37%); 20.3% of returnees' papers vs 16.8% of home-grown scientists' papers have a foreign co-author.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Succession risk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A37"/>
                          </a:solidFill>
                          <a:latin typeface="Calibri"/>
                        </a:rPr>
                        <a:t>In CECRI, 46.3% of recent papers (48.6% of their citations) have only roster authors likely to retire within ~5 years (IICT 20.2%, NCL 11.5%). Highest exposure: Electrochemical Process Engineering, CECRI (74.6% of 193 papers).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Source"/>
          <p:cNvSpPr txBox="1"/>
          <p:nvPr/>
        </p:nvSpPr>
        <p:spPr>
          <a:xfrm>
            <a:off x="502920" y="6473952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776"/>
                </a:solidFill>
                <a:latin typeface="Calibri"/>
              </a:rPr>
              <a:t>Source: stats/tables/insights/*.json (generated by src/stats/insights) · charts: </a:t>
            </a:r>
            <a:r>
              <a:rPr sz="1000">
                <a:solidFill>
                  <a:srgbClr val="1F5FA8"/>
                </a:solidFill>
                <a:latin typeface="Calibri"/>
                <a:hlinkClick r:id="rId2"/>
              </a:rPr>
              <a:t>https://prathm01s.github.io/dpcn_almost_stable/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24 Statistics Report — CSIR-NCL, CSIR-IICT, CSIR-CECRI (2016–2026)</dc:title>
  <dc:subject/>
  <dc:creator>DPCN 2026 Group 24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