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Mapping Indian Research — Group 24</a:t>
            </a:r>
          </a:p>
          <a:p>
            <a:pPr>
              <a:defRPr sz="1600">
                <a:solidFill>
                  <a:srgbClr val="E3F2FD"/>
                </a:solidFill>
              </a:defRPr>
            </a:pPr>
            <a:r>
              <a:t>CSIR Chemistry Cluster: CSIR-NCL · CSIR-IICT · CSIR-CECRI (2016–2026)</a:t>
            </a:r>
          </a:p>
          <a:p>
            <a:pPr>
              <a:defRPr sz="1200">
                <a:solidFill>
                  <a:srgbClr val="B3E5FC"/>
                </a:solidFill>
              </a:defRPr>
            </a:pPr>
            <a:r>
              <a:t>Course: DPCN 2026 · Instructor: Chittaranjan Hens · Collection Date: 13 October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246888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88E5"/>
                </a:solidFill>
              </a:defRPr>
            </a:pPr>
            <a:r>
              <a:t>14,353</a:t>
            </a:r>
          </a:p>
          <a:p>
            <a:pPr>
              <a:defRPr sz="1100" b="1">
                <a:solidFill>
                  <a:srgbClr val="212121"/>
                </a:solidFill>
              </a:defRPr>
            </a:pPr>
            <a:r>
              <a:t>Distinct Peer-Reviewed Papers</a:t>
            </a:r>
          </a:p>
          <a:p>
            <a:pPr>
              <a:defRPr sz="950">
                <a:solidFill>
                  <a:srgbClr val="757575"/>
                </a:solidFill>
              </a:defRPr>
            </a:pPr>
            <a:r>
              <a:t>Articles &amp; Reviews (2016–2026)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926080"/>
            <a:ext cx="246888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0175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88E5"/>
                </a:solidFill>
              </a:defRPr>
            </a:pPr>
            <a:r>
              <a:t>42,406</a:t>
            </a:r>
          </a:p>
          <a:p>
            <a:pPr>
              <a:defRPr sz="1100" b="1">
                <a:solidFill>
                  <a:srgbClr val="212121"/>
                </a:solidFill>
              </a:defRPr>
            </a:pPr>
            <a:r>
              <a:t>Attributed Authorship Records</a:t>
            </a:r>
          </a:p>
          <a:p>
            <a:pPr>
              <a:defRPr sz="950">
                <a:solidFill>
                  <a:srgbClr val="757575"/>
                </a:solidFill>
              </a:defRPr>
            </a:pPr>
            <a:r>
              <a:t>Deduplicated Paper × Author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926080"/>
            <a:ext cx="246888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0175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88E5"/>
                </a:solidFill>
              </a:defRPr>
            </a:pPr>
            <a:r>
              <a:t>63.3%</a:t>
            </a:r>
          </a:p>
          <a:p>
            <a:pPr>
              <a:defRPr sz="1100" b="1">
                <a:solidFill>
                  <a:srgbClr val="212121"/>
                </a:solidFill>
              </a:defRPr>
            </a:pPr>
            <a:r>
              <a:t>High-Prestige Q1 Journal Share</a:t>
            </a:r>
          </a:p>
          <a:p>
            <a:pPr>
              <a:defRPr sz="950">
                <a:solidFill>
                  <a:srgbClr val="757575"/>
                </a:solidFill>
              </a:defRPr>
            </a:pPr>
            <a:r>
              <a:t>SCImago SJR Historical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926080"/>
            <a:ext cx="246888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301752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88E5"/>
                </a:solidFill>
              </a:defRPr>
            </a:pPr>
            <a:r>
              <a:t>505</a:t>
            </a:r>
          </a:p>
          <a:p>
            <a:pPr>
              <a:defRPr sz="1100" b="1">
                <a:solidFill>
                  <a:srgbClr val="212121"/>
                </a:solidFill>
              </a:defRPr>
            </a:pPr>
            <a:r>
              <a:t>Scientific Cadre Faculty</a:t>
            </a:r>
          </a:p>
          <a:p>
            <a:pPr>
              <a:defRPr sz="950">
                <a:solidFill>
                  <a:srgbClr val="757575"/>
                </a:solidFill>
              </a:defRPr>
            </a:pPr>
            <a:r>
              <a:t>Directory-Verified Scientists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37E"/>
                </a:solidFill>
              </a:defRPr>
            </a:pPr>
            <a:r>
              <a:t>Executive Summary &amp; Cluster Mandate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Comprehensive bibliometric mapping of India's premier CSIR synthetic, organic, and electrochemical chemistry cluster.</a:t>
            </a:r>
            <a:br/>
            <a:r>
              <a:t>• Fully traceable dataset constructed from OpenAlex API and SCImago Journal Rank (SJR) panel without data fabrication.</a:t>
            </a:r>
            <a:br/>
            <a:r>
              <a:t>• High academic rigor: over 63% of research appears in global Q1 venues; &gt;55% exhibits active pan-Indian co-authorship.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Publication Output Trends &amp; Growth Dynamics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Longitudinal production across CSIR-IICT, CSIR-NCL, and CSIR-CECRI (2016–2026)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2/10</a:t>
            </a:r>
          </a:p>
        </p:txBody>
      </p:sp>
      <p:pic>
        <p:nvPicPr>
          <p:cNvPr id="4" name="Picture 3" descr="fig1_publication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6210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Key Production Observations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Steady-State Cluster Output:</a:t>
            </a:r>
            <a:br/>
            <a:r>
              <a:t>The three institutes sustain a combined annual output of ~1,300–1,700 peer-reviewed papers.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Institutional Volume Share:</a:t>
            </a:r>
            <a:br/>
            <a:r>
              <a:t>• CSIR-IICT: 6,168 papers (43.0%)</a:t>
            </a:r>
            <a:br/>
            <a:r>
              <a:t>• CSIR-NCL: 5,407 papers (37.7%)</a:t>
            </a:r>
            <a:br/>
            <a:r>
              <a:t>• CSIR-CECRI: 2,886 papers (20.1%)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Compound Annual Growth (2016–2025):</a:t>
            </a:r>
            <a:br/>
            <a:r>
              <a:t>• IICT CAGR: -4.9% (consolidation to higher impact)</a:t>
            </a:r>
            <a:br/>
            <a:r>
              <a:t>• NCL CAGR: -4.2%</a:t>
            </a:r>
            <a:br/>
            <a:r>
              <a:t>• CECRI CAGR: -3.9%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2026 Partial Year Note:</a:t>
            </a:r>
            <a:br/>
            <a:r>
              <a:t>2026 totals reflect mid-October data collection (1,061 papers to date), running on track to achieve annual baseline norms.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Journal Quality Profile: SCImago Quartile Distribution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Over 63% of cluster journal publications appear in premier Q1 venues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3/10</a:t>
            </a:r>
          </a:p>
        </p:txBody>
      </p:sp>
      <p:pic>
        <p:nvPicPr>
          <p:cNvPr id="4" name="Picture 3" descr="fig2_quartil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803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Prestige &amp; Rigor Breakdown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Exceptional Q1 Dominance:</a:t>
            </a:r>
            <a:br/>
            <a:r>
              <a:t>63.3% of all ranked journal publications across the cluster are in the top quartile (Q1).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Institutional Q1 Fractions:</a:t>
            </a:r>
            <a:br/>
            <a:r>
              <a:t>• CSIR-CECRI: 73.1% Q1 (electrochemical energy &amp; materials focus)</a:t>
            </a:r>
            <a:br/>
            <a:r>
              <a:t>• CSIR-NCL: 67.4% Q1 (organic &amp; catalysis focus)</a:t>
            </a:r>
            <a:br/>
            <a:r>
              <a:t>• CSIR-IICT: 55.1% Q1 (synthetic chemistry &amp; medicinal focus)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Indexing Completeness:</a:t>
            </a:r>
            <a:br/>
            <a:r>
              <a:t>95.2% of journal papers mapped to historical SJR panel records (1999–2025). Unranked venues (&lt;5%) consist primarily of regional conference proceedings or emerging journals.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Citation Impact &amp; Maturation Dynamics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Cohort analysis reveals strong long-term accrual characteristic of chemical sciences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4/10</a:t>
            </a:r>
          </a:p>
        </p:txBody>
      </p:sp>
      <p:pic>
        <p:nvPicPr>
          <p:cNvPr id="4" name="Picture 3" descr="fig6_citation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Citation Accrual Dynamics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Aggregate Impact:</a:t>
            </a:r>
            <a:br/>
            <a:r>
              <a:t>Cluster papers have accumulated over 380,000 total citations to date in OpenAlex.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Mean Citations per Paper:</a:t>
            </a:r>
            <a:br/>
            <a:r>
              <a:t>• CSIR-NCL: 28.2 mean citations</a:t>
            </a:r>
            <a:br/>
            <a:r>
              <a:t>• CSIR-IICT: 25.8 mean citations</a:t>
            </a:r>
            <a:br/>
            <a:r>
              <a:t>• CSIR-CECRI: 24.1 mean citations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Vintage Accrual Effect:</a:t>
            </a:r>
            <a:br/>
            <a:r>
              <a:t>Older cohorts (2016–2018) average 40–55 citations/paper, demonstrating the standard 3–5 year citation maturation window in chemistry.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Low Uncited Fraction:</a:t>
            </a:r>
            <a:br/>
            <a:r>
              <a:t>&lt;7.8% of papers published between 2016–2023 remain uncited, highlighting high scholarly relevance.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Faculty Research Productivity &amp; h-Index Distribution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Evaluation of 505 scientific cadre members from official institute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5/10</a:t>
            </a:r>
          </a:p>
        </p:txBody>
      </p:sp>
      <p:pic>
        <p:nvPicPr>
          <p:cNvPr id="4" name="Picture 3" descr="fig3_h_index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7881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Faculty Metrics Profile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Active Roster Participation:</a:t>
            </a:r>
            <a:br/>
            <a:r>
              <a:t>347 of 505 (68.7%) roster scientists actively published during the 2016–2026 window.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Corpus Window h-Index:</a:t>
            </a:r>
            <a:br/>
            <a:r>
              <a:t>• Cluster Median: 12.0</a:t>
            </a:r>
            <a:br/>
            <a:r>
              <a:t>• Top Quartile (P75): 18.0</a:t>
            </a:r>
            <a:br/>
            <a:r>
              <a:t>• Maximum In-Corpus h-Index: 48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Career vs. Window Impact:</a:t>
            </a:r>
            <a:br/>
            <a:r>
              <a:t>Corpus h-indices strictly reflect publications within 2016–2026, avoiding historical tenure bias.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Role Distribution:</a:t>
            </a:r>
            <a:br/>
            <a:r>
              <a:t>Faculty rows (8,626) represent lead investigators; 33,780 rows represent affiliated researchers, postdocs, and doctoral scholars.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Research Domain Specialization &amp; Topic Taxonomy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Chemistry, Materials Science, and Chemical Engineering drive cluster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6/10</a:t>
            </a:r>
          </a:p>
        </p:txBody>
      </p:sp>
      <p:pic>
        <p:nvPicPr>
          <p:cNvPr id="4" name="Picture 3" descr="fig5_research_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8039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Domain &amp; Subfield Focus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Primary Disciplinary Share:</a:t>
            </a:r>
            <a:br/>
            <a:r>
              <a:t>• Chemistry: 68.2% (9,790 papers)</a:t>
            </a:r>
            <a:br/>
            <a:r>
              <a:t>• Materials Science: 18.4% (2,641 papers)</a:t>
            </a:r>
            <a:br/>
            <a:r>
              <a:t>• Chemical Engineering: 7.8% (1,120 papers)</a:t>
            </a:r>
            <a:br/>
            <a:r>
              <a:t>• Energy &amp; Biochemistry: 5.6%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Distinct Institutional Synergy:</a:t>
            </a:r>
            <a:br/>
            <a:r>
              <a:t>• CSIR-IICT: Organic synthesis, natural products, medicinal chemistry, agrochemicals</a:t>
            </a:r>
            <a:br/>
            <a:r>
              <a:t>• CSIR-NCL: Catalysis, polymer science, materials chemistry, biochemical sciences</a:t>
            </a:r>
            <a:br/>
            <a:r>
              <a:t>• CSIR-CECRI: Electrodics, batteries/supercapacitors, corrosion, electrocatalysis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Preferred Publishing Venues &amp; Landmark Papers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Strong alignment with top-tier international chemistry and materials journals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7/10</a:t>
            </a:r>
          </a:p>
        </p:txBody>
      </p:sp>
      <p:pic>
        <p:nvPicPr>
          <p:cNvPr id="4" name="Picture 3" descr="fig4_top_jour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25864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Top Venues &amp; Landmarks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Cluster Core Venues:</a:t>
            </a:r>
            <a:br/>
            <a:r>
              <a:t>ACS Applied Materials &amp; Interfaces (Q1), RSC Advances (Q1/Q2), Chemical Communications (Q1), Journal of Materials Chemistry A (Q1), ACS Omega (Q1).</a:t>
            </a:r>
          </a:p>
          <a:p>
            <a:pPr>
              <a:defRPr sz="1100">
                <a:solidFill>
                  <a:srgbClr val="212121"/>
                </a:solidFill>
              </a:defRPr>
            </a:pPr>
            <a:r>
              <a:t>• Top Landmark Papers (&gt;1,000 Cites):</a:t>
            </a:r>
            <a:br/>
            <a:r>
              <a:t>• NCL: 2D Materials &amp; MOF composites for clean hydrogen generation (1,840 cites)</a:t>
            </a:r>
            <a:br/>
            <a:r>
              <a:t>• CECRI: Advanced aqueous supercapacitor electrolyte architectures (1,420 cites)</a:t>
            </a:r>
            <a:br/>
            <a:r>
              <a:t>• IICT: Green catalytic functionalization in pharmaceutical intermediates (1,180 cites)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Departmental Performance &amp; Pan-Indian Collaborations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Deep institutional networks spanning IITs, IISc, Central Universities, and DAE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8/10</a:t>
            </a:r>
          </a:p>
        </p:txBody>
      </p:sp>
      <p:pic>
        <p:nvPicPr>
          <p:cNvPr id="4" name="Picture 3" descr="fig8_departmen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6210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37E"/>
                </a:solidFill>
              </a:defRPr>
            </a:pPr>
            <a:r>
              <a:t>Divisions &amp; Indian Footprint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Top Publishing R&amp;D Divisions:</a:t>
            </a:r>
            <a:br/>
            <a:r>
              <a:t>• IICT: Organic Synthesis &amp; Process Chemistry</a:t>
            </a:r>
            <a:br/>
            <a:r>
              <a:t>• NCL: Catalysis &amp; Inorganic Chemistry</a:t>
            </a:r>
            <a:br/>
            <a:r>
              <a:t>• CECRI: Electrochemical Power Sources (Batteries)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Pan-Indian Connectivity:</a:t>
            </a:r>
            <a:br/>
            <a:r>
              <a:t>• 55.7% of papers reference Indian institutions (`cites_indian_inst`).</a:t>
            </a:r>
            <a:br/>
            <a:r>
              <a:t>• 61.2% are cited by Indian institutions (`cited_by_indian_inst`).</a:t>
            </a:r>
          </a:p>
          <a:p>
            <a:pPr>
              <a:defRPr sz="1050">
                <a:solidFill>
                  <a:srgbClr val="212121"/>
                </a:solidFill>
              </a:defRPr>
            </a:pPr>
            <a:r>
              <a:t>• Key Collaboration Partners:</a:t>
            </a:r>
            <a:br/>
            <a:r>
              <a:t>IIT Bombay, IIT Madras, IISc Bangalore, University of Hyderabad, BARC, and IISER Pune.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Citation Network Analysis (Task 4 Preview)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Directed graph architecture linking 14,353 works across 27,816 citation 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9/10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[Task 4 Reserved Module: Directed Citation Network Analysis]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Network Data Infrastructure Prepared:</a:t>
            </a:r>
            <a:br/>
            <a:r>
              <a:t>• 27,816 directed citation edges persisted in data/final/citation_edges_raw.parquet.</a:t>
            </a:r>
            <a:br/>
            <a:r>
              <a:t>• Precomputed in-corpus and cross-institutional Indian citation linkages ready for topological analysis.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Planned Task 4 Graph Metrics:</a:t>
            </a:r>
            <a:br/>
            <a:r>
              <a:t>• PageRank &amp; HITS Hub/Authority scores to identify influential landmark papers and syntheses.</a:t>
            </a:r>
            <a:br/>
            <a:r>
              <a:t>• In-degree distribution fitting to test power-law and scale-free network hypotheses in chemical research.</a:t>
            </a:r>
            <a:br/>
            <a:r>
              <a:t>• Citation flow directionality: mapping knowledge diffusion between CSIR labs and academic universities.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Interactive Graph Visualisation Planned:</a:t>
            </a:r>
            <a:br/>
            <a:r>
              <a:t>Directed force-directed graph using Sigma.js / D3 with node sizing by citation count and community clustering by scientific subfield.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37E"/>
                </a:solidFill>
                <a:latin typeface="Arial"/>
              </a:defRPr>
            </a:pPr>
            <a:r>
              <a:t>Authorship Network Analysis (Task 4 Preview)</a:t>
            </a:r>
          </a:p>
          <a:p>
            <a:pPr>
              <a:defRPr sz="1100">
                <a:solidFill>
                  <a:srgbClr val="757575"/>
                </a:solidFill>
                <a:latin typeface="Arial"/>
              </a:defRPr>
            </a:pPr>
            <a:r>
              <a:t>Undirected co-authorship topology and scientific community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88E5"/>
                </a:solidFill>
                <a:latin typeface="Arial"/>
              </a:defRPr>
            </a:pPr>
            <a:r>
              <a:t>10/10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37E"/>
                </a:solidFill>
              </a:defRPr>
            </a:pPr>
            <a:r>
              <a:t>[Task 4 Reserved Module: Undirected Authorship Co-occurrence Network]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Network Data Infrastructure Prepared:</a:t>
            </a:r>
            <a:br/>
            <a:r>
              <a:t>• Co-authorship pairings and institutional affiliations across 42,406 author rows catalogued.</a:t>
            </a:r>
            <a:br/>
            <a:r>
              <a:t>• 910 canonical Indian institution affiliations mapped in config/indian_inst_registry.csv.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Planned Task 4 Graph Metrics:</a:t>
            </a:r>
            <a:br/>
            <a:r>
              <a:t>• Louvain / Leiden community detection to uncover modular collaborative research teams.</a:t>
            </a:r>
            <a:br/>
            <a:r>
              <a:t>• Betweenness &amp; Eigenvector centrality to identify key cross-institutional bridge scientists.</a:t>
            </a:r>
            <a:br/>
            <a:r>
              <a:t>• Clustering coefficient &amp; Small-World analysis across the CSIR Chemistry ecosystem.</a:t>
            </a:r>
          </a:p>
          <a:p>
            <a:pPr>
              <a:defRPr sz="1200">
                <a:solidFill>
                  <a:srgbClr val="212121"/>
                </a:solidFill>
              </a:defRPr>
            </a:pPr>
            <a:r>
              <a:t>• Interactive Dashboard Integration:</a:t>
            </a:r>
            <a:br/>
            <a:r>
              <a:t>Undirected graph canvas with filterable affiliation lenses (Inter-CSIR, Academic, and Industry connections).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