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Distinct papers per year (* 2026 partial, to 13 Oct)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827</c:v>
                </c:pt>
                <c:pt idx="1">
                  <c:v>708</c:v>
                </c:pt>
                <c:pt idx="2">
                  <c:v>590</c:v>
                </c:pt>
                <c:pt idx="3">
                  <c:v>537</c:v>
                </c:pt>
                <c:pt idx="4">
                  <c:v>500</c:v>
                </c:pt>
                <c:pt idx="5">
                  <c:v>476</c:v>
                </c:pt>
                <c:pt idx="6">
                  <c:v>475</c:v>
                </c:pt>
                <c:pt idx="7">
                  <c:v>541</c:v>
                </c:pt>
                <c:pt idx="8">
                  <c:v>564</c:v>
                </c:pt>
                <c:pt idx="9">
                  <c:v>528</c:v>
                </c:pt>
                <c:pt idx="10">
                  <c:v>421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687</c:v>
                </c:pt>
                <c:pt idx="1">
                  <c:v>628</c:v>
                </c:pt>
                <c:pt idx="2">
                  <c:v>556</c:v>
                </c:pt>
                <c:pt idx="3">
                  <c:v>489</c:v>
                </c:pt>
                <c:pt idx="4">
                  <c:v>446</c:v>
                </c:pt>
                <c:pt idx="5">
                  <c:v>466</c:v>
                </c:pt>
                <c:pt idx="6">
                  <c:v>423</c:v>
                </c:pt>
                <c:pt idx="7">
                  <c:v>422</c:v>
                </c:pt>
                <c:pt idx="8">
                  <c:v>482</c:v>
                </c:pt>
                <c:pt idx="9">
                  <c:v>465</c:v>
                </c:pt>
                <c:pt idx="10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238</c:v>
                </c:pt>
                <c:pt idx="1">
                  <c:v>309</c:v>
                </c:pt>
                <c:pt idx="2">
                  <c:v>326</c:v>
                </c:pt>
                <c:pt idx="3">
                  <c:v>320</c:v>
                </c:pt>
                <c:pt idx="4">
                  <c:v>283</c:v>
                </c:pt>
                <c:pt idx="5">
                  <c:v>258</c:v>
                </c:pt>
                <c:pt idx="6">
                  <c:v>237</c:v>
                </c:pt>
                <c:pt idx="7">
                  <c:v>237</c:v>
                </c:pt>
                <c:pt idx="8">
                  <c:v>255</c:v>
                </c:pt>
                <c:pt idx="9">
                  <c:v>239</c:v>
                </c:pt>
                <c:pt idx="10">
                  <c:v>183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journal papers by SJR quartile</a:t>
            </a:r>
          </a:p>
        </c:rich>
      </c:tx>
      <c:layout/>
      <c:overlay val="0"/>
    </c:title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0F4C5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0.5182385803483405</c:v>
                </c:pt>
                <c:pt idx="1">
                  <c:v>0.6422566784980385</c:v>
                </c:pt>
                <c:pt idx="2">
                  <c:v>0.7120141342756183</c:v>
                </c:pt>
                <c:pt idx="3">
                  <c:v>0.6022165748976422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3B8EA5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0.2955964508708511</c:v>
                </c:pt>
                <c:pt idx="1">
                  <c:v>0.2337007285634224</c:v>
                </c:pt>
                <c:pt idx="2">
                  <c:v>0.22226148409893992</c:v>
                </c:pt>
                <c:pt idx="3">
                  <c:v>0.25829450797684594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9CC5D3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0.10417351298061124</c:v>
                </c:pt>
                <c:pt idx="1">
                  <c:v>0.06351578554081823</c:v>
                </c:pt>
                <c:pt idx="2">
                  <c:v>0.037809187279151946</c:v>
                </c:pt>
                <c:pt idx="3">
                  <c:v>0.07595651560073416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D6E6E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0.022674991784423268</c:v>
                </c:pt>
                <c:pt idx="1">
                  <c:v>0.013263590509994396</c:v>
                </c:pt>
                <c:pt idx="2">
                  <c:v>0.0024734982332155478</c:v>
                </c:pt>
                <c:pt idx="3">
                  <c:v>0.015247776365946633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Unranked</c:v>
                </c:pt>
              </c:strCache>
            </c:strRef>
          </c:tx>
          <c:spPr>
            <a:solidFill>
              <a:srgbClr val="B8BEC6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0.05931646401577391</c:v>
                </c:pt>
                <c:pt idx="1">
                  <c:v>0.04726321688772651</c:v>
                </c:pt>
                <c:pt idx="2">
                  <c:v>0.025441696113074206</c:v>
                </c:pt>
                <c:pt idx="3">
                  <c:v>0.048284625158831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Faculty by h-index (2016–2026 papers), count of scientists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41</c:v>
                </c:pt>
                <c:pt idx="2">
                  <c:v>19</c:v>
                </c:pt>
                <c:pt idx="3">
                  <c:v>17</c:v>
                </c:pt>
                <c:pt idx="4">
                  <c:v>5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52</c:v>
                </c:pt>
                <c:pt idx="1">
                  <c:v>32</c:v>
                </c:pt>
                <c:pt idx="2">
                  <c:v>33</c:v>
                </c:pt>
                <c:pt idx="3">
                  <c:v>17</c:v>
                </c:pt>
                <c:pt idx="4">
                  <c:v>8</c:v>
                </c:pt>
                <c:pt idx="5">
                  <c:v>4</c:v>
                </c:pt>
                <c:pt idx="6">
                  <c:v>1</c:v>
                </c:pt>
                <c:pt idx="7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16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each institute's papers by OpenAlex field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0.37439999999999996</c:v>
                </c:pt>
                <c:pt idx="1">
                  <c:v>0.1307</c:v>
                </c:pt>
                <c:pt idx="2">
                  <c:v>0.1412</c:v>
                </c:pt>
                <c:pt idx="3">
                  <c:v>0.055</c:v>
                </c:pt>
                <c:pt idx="4">
                  <c:v>0.0824</c:v>
                </c:pt>
                <c:pt idx="5">
                  <c:v>0.0816</c:v>
                </c:pt>
                <c:pt idx="6">
                  <c:v>0.0378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0.2696</c:v>
                </c:pt>
                <c:pt idx="1">
                  <c:v>0.163</c:v>
                </c:pt>
                <c:pt idx="2">
                  <c:v>0.1949</c:v>
                </c:pt>
                <c:pt idx="3">
                  <c:v>0.0757</c:v>
                </c:pt>
                <c:pt idx="4">
                  <c:v>0.1079</c:v>
                </c:pt>
                <c:pt idx="5">
                  <c:v>0.06</c:v>
                </c:pt>
                <c:pt idx="6">
                  <c:v>0.0294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0.043</c:v>
                </c:pt>
                <c:pt idx="1">
                  <c:v>0.3726</c:v>
                </c:pt>
                <c:pt idx="2">
                  <c:v>0.2419</c:v>
                </c:pt>
                <c:pt idx="3">
                  <c:v>0.2672</c:v>
                </c:pt>
                <c:pt idx="4">
                  <c:v>0.0163</c:v>
                </c:pt>
                <c:pt idx="5">
                  <c:v>0.0055000000000000005</c:v>
                </c:pt>
                <c:pt idx="6">
                  <c:v>0.029500000000000002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stats/tables/citation_summary.csv, quartile_distribution.csv, h_index_summary.csv; data/final/faculty_master.csv.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data/final/group24_data.csv (paper and row counts), data/final/faculty_master.csv (roster), stats/tables/h_index_summary.csv (faculty with &gt;=1 paper), quartile_distribution.csv (coverage), conference_ranks.csv.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stats/tables/publication_trend.csv (papers, yoy_growth_pct, cagr_2016_2025).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stats/tables/quartile_distribution.csv (SJR Q1 = Q1 / journal papers with known quartile), impact_ratio_summary.csv, impact_ratio_vs_sjr.csv, impact_ratio_by_year.csv. IR thresholds are set in config/settings.yaml (impact_ratio.thresholds and quartile_percentile).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stats/tables/h_index_summary.csv, h_index_distribution.csv, faculty_performance.csv. Faculty = roster scientists matched to OpenAlex with &gt;=1 paper. Career-wide h-index was not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stats/tables/top_journals.csv (ties broken by total citations).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stats/tables/top_cited_papers.csv (institution = Group 24 Combined), citation_summary.csv. Per-institute top-10 lists are in the dashboard (Venues &amp; Landmark Papers tab).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stats/tables/research_areas_field.csv, research_areas_subfield.csv, department_performance.csv. Faculty = active roster scientists in the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 topology: (1) Citation network: directed in-corpus graph (10,988 nodes, 27,268 links); PageRank computed with damping=0.85; Indian citation flow includes out-of-corpus Indian-affiliated papers. (2) Authorship network: undirected in-corpus co-authorship graph (7,864 nodes); Louvain community detection finds 130 communities; betweenness centrality sampled from 1,000 sources. Sources: stats/tables/network_summary.csv, network_citation_pagerank_top10.csv, network_authorship_top_degree.csv, network_authorship_top_betweenness.csv, citation_flow_summary.csv.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10 non-obvious analyses are fully interactive with dedicated charts on the dashboard 'Insights'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athm01s.github.io/dpcn_almost_stable/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athm01s.github.io/dpcn_almost_stable/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athm01s.github.io/dpcn_almost_stable/" TargetMode="Externa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A"/>
                </a:solidFill>
                <a:latin typeface="Calibri"/>
              </a:rPr>
              <a:t>DPCN 2026  ·  GROUP 24  ·  STATISTICS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Research output of three CSIR chemistry laboratories, 2016–2026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9D6EA"/>
                </a:solidFill>
                <a:latin typeface="Calibri"/>
              </a:rPr>
              <a:t>CSIR-NCL (Pune)  ·  CSIR-IICT (Hyderabad)  ·  CSIR-CECRI (Karaikudi)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14,352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distinct peer-reviewed papers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350,920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citations (OpenAlex, 13 Oct 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63.3%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of ranked journal papers in Q1 (SJR)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3429000"/>
            <a:ext cx="2590724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3538728"/>
            <a:ext cx="22615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347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Calibri"/>
              </a:rPr>
              <a:t>roster scientists with ≥1 paper (of 505 listed)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A"/>
                </a:solidFill>
                <a:latin typeface="Calibri"/>
              </a:rPr>
              <a:t>Data: OpenAlex works affiliated to the three ROR-verified institutes (collected 13 Oct 2026; links with other Indian institutions 20 Oct 2026). 2026 is a partial year.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A"/>
                </a:solidFill>
                <a:latin typeface="Calibri"/>
              </a:rPr>
              <a:t>Quartiles: SCImago Journal Rank (best quartile of the publication year). Faculty: official institute staff pages.</a:t>
            </a:r>
          </a:p>
        </p:txBody>
      </p:sp>
      <p:sp>
        <p:nvSpPr>
          <p:cNvPr id="14" name="Dashboard link"/>
          <p:cNvSpPr/>
          <p:nvPr/>
        </p:nvSpPr>
        <p:spPr>
          <a:xfrm>
            <a:off x="502920" y="5897880"/>
            <a:ext cx="6949440" cy="502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shboard URL"/>
          <p:cNvSpPr txBox="1"/>
          <p:nvPr/>
        </p:nvSpPr>
        <p:spPr>
          <a:xfrm>
            <a:off x="685800" y="589788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Interactive dashboard:  </a:t>
            </a:r>
            <a:r>
              <a:rPr sz="1400" b="1">
                <a:solidFill>
                  <a:srgbClr val="1F5FA8"/>
                </a:solidFill>
                <a:latin typeface="Calibri"/>
                <a:hlinkClick r:id="rId2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Data and method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14,352 distinct papers (2016 – 13 Oct 2026) from OpenAlex, one row per paper × institute author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2 / 10</a:t>
            </a:r>
          </a:p>
        </p:txBody>
      </p:sp>
      <p:graphicFrame>
        <p:nvGraphicFramePr>
          <p:cNvPr id="5" name="Coverage table"/>
          <p:cNvGraphicFramePr>
            <a:graphicFrameLocks noGrp="1"/>
          </p:cNvGraphicFramePr>
          <p:nvPr/>
        </p:nvGraphicFramePr>
        <p:xfrm>
          <a:off x="502920" y="1508760"/>
          <a:ext cx="11185851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12635"/>
                <a:gridCol w="1096652"/>
                <a:gridCol w="1096652"/>
                <a:gridCol w="1206317"/>
                <a:gridCol w="1206317"/>
                <a:gridCol w="1425648"/>
                <a:gridCol w="1315982"/>
                <a:gridCol w="142564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Conference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rows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Roster scientists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≥1 paper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Quartile known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CSIR-IICT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6,167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6,086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20,183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CSIR-NCL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5,404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5,353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14,726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95.3%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CSIR-CECRI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7,484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 three (distinct)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14,352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14,166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42,393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505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95.2%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429000"/>
            <a:ext cx="5410048" cy="28346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8728" y="3429000"/>
            <a:ext cx="5410048" cy="28346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495284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How the data was built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Works pulled from OpenAlex by the institutes' ROR-verified IDs, with recall checks on CSIR/AcSIR affiliations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Kept: articles, reviews, letters, conference papers; editorials, errata, preprints and book chapters excluded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Faculty = scientific cadre from official staff pages, matched to OpenAlex authors seen in the corpus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Quartile = SJR best quartile of the publication year (2025 values for 2026 papers)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8" y="3611880"/>
            <a:ext cx="495284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Limits to keep in mind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OpenAlex author and affiliation matching is imperfect; some papers may be missing or mis-attributed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h-index is computed on 2016–2026 corpus papers only, not career-wide; students/project staff are not faculty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SJR quartiles can differ from JCR; citations are counts on the collection date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None of the 186 conference papers has a CORE rank (CORE ranks computer-science venues)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data/final/group24_data.csv, faculty_master.csv; stats/tables/quartile_distribution.csv, conference_ranks.csv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Publication trend chart"/>
          <p:cNvGraphicFramePr>
            <a:graphicFrameLocks noGrp="1"/>
          </p:cNvGraphicFramePr>
          <p:nvPr/>
        </p:nvGraphicFramePr>
        <p:xfrm>
          <a:off x="502920" y="1508760"/>
          <a:ext cx="75895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Publication trend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14,352 distinct papers in 2016–2026; IICT 43% of them, NCL 38%, CECRI 20%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08760"/>
            <a:ext cx="3276295" cy="4663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691640"/>
            <a:ext cx="287395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Totals and growth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B5C8F"/>
                </a:solidFill>
                <a:latin typeface="Calibri"/>
              </a:rPr>
              <a:t>IICT: </a:t>
            </a:r>
            <a:r>
              <a:rPr sz="1300" b="0">
                <a:solidFill>
                  <a:srgbClr val="1F2A37"/>
                </a:solidFill>
                <a:latin typeface="Calibri"/>
              </a:rPr>
              <a:t>6,167 papers; CAGR 2016→2025 −4.9%;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NCL: </a:t>
            </a:r>
            <a:r>
              <a:rPr sz="1300" b="0">
                <a:solidFill>
                  <a:srgbClr val="1F2A37"/>
                </a:solidFill>
                <a:latin typeface="Calibri"/>
              </a:rPr>
              <a:t>5,404 papers; CAGR 2016→2025 −4.2%;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CECRI: </a:t>
            </a:r>
            <a:r>
              <a:rPr sz="1300" b="0">
                <a:solidFill>
                  <a:srgbClr val="1F2A37"/>
                </a:solidFill>
                <a:latin typeface="Calibri"/>
              </a:rPr>
              <a:t>2,885 papers; CAGR 2016→2025 +0.1%; peak year 2018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F2A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Observations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Combined output went from 1,739 papers in 2016 to 1,220 in 2025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Growth rates differ in sign across the three labs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2026 covers papers to 13 Oct only (934 so far) and is left out of CAGR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stats/tables/publication_trend.csv · Papers counted once per institute; combined counts distinct papers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Quartile chart"/>
          <p:cNvGraphicFramePr>
            <a:graphicFrameLocks noGrp="1"/>
          </p:cNvGraphicFramePr>
          <p:nvPr/>
        </p:nvGraphicFramePr>
        <p:xfrm>
          <a:off x="502920" y="1508760"/>
          <a:ext cx="57607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Journal quartiles and citation impact ratio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63.3% of ranked journal papers are in SJR-Q1 journals; Q1 by impact ratio (IR &gt; 0.59, top 25% of papers) ranges from 22.0% (IICT) to 34.0% (CECRI)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08760"/>
            <a:ext cx="5105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Q1 by journal vs Q1 by impact ratio (% of papers)</a:t>
            </a:r>
          </a:p>
        </p:txBody>
      </p:sp>
      <p:graphicFrame>
        <p:nvGraphicFramePr>
          <p:cNvPr id="7" name="IR table"/>
          <p:cNvGraphicFramePr>
            <a:graphicFrameLocks noGrp="1"/>
          </p:cNvGraphicFramePr>
          <p:nvPr/>
        </p:nvGraphicFramePr>
        <p:xfrm>
          <a:off x="6583680" y="1874519"/>
          <a:ext cx="5105092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0227"/>
                <a:gridCol w="1354412"/>
                <a:gridCol w="1354412"/>
                <a:gridCol w="114604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by journal (SJR)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by IR (IR &gt; 0.59)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 IR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24.1%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73.1%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63.3%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25.2%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3840480"/>
            <a:ext cx="51050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Impact ratio (IR) </a:t>
            </a:r>
            <a:r>
              <a:rPr sz="1200" b="0">
                <a:solidFill>
                  <a:srgbClr val="1F2A37"/>
                </a:solidFill>
                <a:latin typeface="Calibri"/>
              </a:rPr>
              <a:t>= citations received ÷ citations made (references). A paper is IR‑Q1 when IR exceeds the threshold; the institute IR is all citations received ÷ all references made.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Threshold IR &gt; 0.59 is the 75th percentile of IR over all papers, so IR‑Q1 is the top 25% of papers — the same share a quartile covers (median paper IR 0.26).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The two definitions disagree: only 32.9% of papers in SJR-Q1 journals are top‑25% by IR. SJR ranks the journal; IR ranks the paper.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Older papers have had longer to be cited; 513 papers with no references in OpenAlex are excluded.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stats/tables/quartile_distribution.csv, impact_ratio_summary.csv, impact_ratio_vs_sjr.csv · SJR best quartile (Scopus-based); IR from OpenAlex citations (13 Oct) and references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h-index histogram"/>
          <p:cNvGraphicFramePr>
            <a:graphicFrameLocks noGrp="1"/>
          </p:cNvGraphicFramePr>
          <p:nvPr/>
        </p:nvGraphicFramePr>
        <p:xfrm>
          <a:off x="502920" y="1508760"/>
          <a:ext cx="6035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Faculty h-index distribution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Median h-index of the 347 roster scientists with papers is 6; CECRI 2.5, NCL 8, IICT 5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5 / 10</a:t>
            </a:r>
          </a:p>
        </p:txBody>
      </p:sp>
      <p:graphicFrame>
        <p:nvGraphicFramePr>
          <p:cNvPr id="6" name="h-index summary"/>
          <p:cNvGraphicFramePr>
            <a:graphicFrameLocks noGrp="1"/>
          </p:cNvGraphicFramePr>
          <p:nvPr/>
        </p:nvGraphicFramePr>
        <p:xfrm>
          <a:off x="6858000" y="1508760"/>
          <a:ext cx="483077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0820"/>
                <a:gridCol w="779157"/>
                <a:gridCol w="779157"/>
                <a:gridCol w="779157"/>
                <a:gridCol w="701241"/>
                <a:gridCol w="701241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8.6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3246120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Highest h-index (2016–2026 window)</a:t>
            </a:r>
          </a:p>
        </p:txBody>
      </p:sp>
      <p:graphicFrame>
        <p:nvGraphicFramePr>
          <p:cNvPr id="8" name="Top faculty table"/>
          <p:cNvGraphicFramePr>
            <a:graphicFrameLocks noGrp="1"/>
          </p:cNvGraphicFramePr>
          <p:nvPr/>
        </p:nvGraphicFramePr>
        <p:xfrm>
          <a:off x="6858000" y="3611880"/>
          <a:ext cx="4830773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3335"/>
                <a:gridCol w="644103"/>
                <a:gridCol w="724616"/>
                <a:gridCol w="885642"/>
                <a:gridCol w="48307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faculty by h-index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 Subrata Kundu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15,767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S. Venkata Mohan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11,389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Sreekumar Kurungot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8,978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Subashchandrabose Chi…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3,617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Ujjwal Pal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Vinod C Prabhakaran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stats/tables/h_index_summary.csv, h_index_distribution.csv, faculty_performance.csv · h-index on 2016–2026 corpus papers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5 journals per institute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Most frequent venues: IICT – ChemistrySelect (239); NCL – ChemistrySelect (140); CECRI – Electrochimica Acta (77)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B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CSIR-IICT</a:t>
            </a:r>
            <a:r>
              <a:rPr sz="1200" b="0">
                <a:solidFill>
                  <a:srgbClr val="FFFFFF"/>
                </a:solidFill>
                <a:latin typeface="Calibri"/>
              </a:rPr>
              <a:t>   6,167 papers</a:t>
            </a:r>
          </a:p>
        </p:txBody>
      </p:sp>
      <p:graphicFrame>
        <p:nvGraphicFramePr>
          <p:cNvPr id="7" name="Journals IICT"/>
          <p:cNvGraphicFramePr>
            <a:graphicFrameLocks noGrp="1"/>
          </p:cNvGraphicFramePr>
          <p:nvPr/>
        </p:nvGraphicFramePr>
        <p:xfrm>
          <a:off x="502920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&amp; Biomolecular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Tetrahedron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ChemInform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22978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7570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CSIR-NCL</a:t>
            </a:r>
            <a:r>
              <a:rPr sz="1200" b="0">
                <a:solidFill>
                  <a:srgbClr val="FFFFFF"/>
                </a:solidFill>
                <a:latin typeface="Calibri"/>
              </a:rPr>
              <a:t>   5,404 papers</a:t>
            </a:r>
          </a:p>
        </p:txBody>
      </p:sp>
      <p:graphicFrame>
        <p:nvGraphicFramePr>
          <p:cNvPr id="10" name="Journals NCL"/>
          <p:cNvGraphicFramePr>
            <a:graphicFrameLocks noGrp="1"/>
          </p:cNvGraphicFramePr>
          <p:nvPr/>
        </p:nvGraphicFramePr>
        <p:xfrm>
          <a:off x="4322978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Chemical Communications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ACS Omega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43037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7629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CSIR-CECRI</a:t>
            </a:r>
            <a:r>
              <a:rPr sz="1200" b="0">
                <a:solidFill>
                  <a:srgbClr val="FFFFFF"/>
                </a:solidFill>
                <a:latin typeface="Calibri"/>
              </a:rPr>
              <a:t>   2,885 papers</a:t>
            </a:r>
          </a:p>
        </p:txBody>
      </p:sp>
      <p:graphicFrame>
        <p:nvGraphicFramePr>
          <p:cNvPr id="13" name="Journals CECRI"/>
          <p:cNvGraphicFramePr>
            <a:graphicFrameLocks noGrp="1"/>
          </p:cNvGraphicFramePr>
          <p:nvPr/>
        </p:nvGraphicFramePr>
        <p:xfrm>
          <a:off x="8143037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Electrochimica Acta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Journal of Materials Chemistry 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New Journal of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International Journal of Hydrogen…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71500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Calibri"/>
              </a:rPr>
              <a:t>All three combined: </a:t>
            </a:r>
            <a:r>
              <a:rPr sz="1300" b="0">
                <a:solidFill>
                  <a:srgbClr val="1F2A37"/>
                </a:solidFill>
                <a:latin typeface="Calibri"/>
              </a:rPr>
              <a:t>ChemistrySelect (443); New Journal of Chemistry (270); RSC Advances (245); Chemical Communications (239); The Journal of Organic Chemistry (225)</a:t>
            </a:r>
          </a:p>
        </p:txBody>
      </p:sp>
      <p:sp>
        <p:nvSpPr>
          <p:cNvPr id="15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stats/tables/top_journals.csv · ranked by distinct papers; share = % of the institute's papers; Q = SJR quartile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10 most-cited papers (all three institutes)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350,920 citations in total; mean 24.4 and median 11 per paper; the top paper has 2,493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7 / 10</a:t>
            </a:r>
          </a:p>
        </p:txBody>
      </p:sp>
      <p:graphicFrame>
        <p:nvGraphicFramePr>
          <p:cNvPr id="5" name="Top cited table"/>
          <p:cNvGraphicFramePr>
            <a:graphicFrameLocks noGrp="1"/>
          </p:cNvGraphicFramePr>
          <p:nvPr/>
        </p:nvGraphicFramePr>
        <p:xfrm>
          <a:off x="502920" y="1481328"/>
          <a:ext cx="11185852" cy="4123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1148"/>
                <a:gridCol w="4874769"/>
                <a:gridCol w="1828038"/>
                <a:gridCol w="478772"/>
                <a:gridCol w="739920"/>
                <a:gridCol w="739920"/>
                <a:gridCol w="2263285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DOI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Electrochemical Water Splitting with an Emphasis on Sulfi…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ACS Catalysis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2,493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10.1021/acscatal.6b02479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Cancer chemotherapy and beyond: Current status, drug candidates, associated risks and progr…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Genes &amp; Diseases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1,826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10.1016/j.gendis.2022.02.007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evaluation of electrocatalytic water splitting: revisiting…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Energy &amp; Environmental Science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1,623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10.1039/c7ee03457a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Covalent Organic Frameworks: Chemistry beyond the Structure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1,574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10.1021/jacs.8b10334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Phytochemicals in Cancer Treatment: From Preclinical Studies to Clinical Practice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Frontiers in Pharmacology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10.3389/fphar.2019.01614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Selective Molecular Separation by Interfacially Crystallized Covalent Organic Framework Thi…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1,060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10.1021/jacs.7b06640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Cooperativity in Noncovalent Interactions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10.1021/cr500344e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“The Fe Effect”: A review unveiling the critical roles of Fe in enhancing OER activity of N…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Nano Energy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10.1016/j.nanoen.2020.105514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Synthesis, Properties, and Applications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10.1021/acs.chemrev.6b00160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Polylactic acid: synthesis and biomedical applications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Applied Microbiolo…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873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10.1111/jam.14290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3387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IICT: 125,231 citations, mean 20.3, uncited 12.2%   ·   NCL: 134,679 citations, mean 24.9, uncited 11.0%   ·   CECRI: 93,125 citations, mean 32.3, uncited 6.8%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stats/tables/top_cited_papers.csv, citation_summary.csv · OpenAlex cited_by_count on 13 Oct 2026; older papers have had longer to accrue citations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Research area chart"/>
          <p:cNvGraphicFramePr>
            <a:graphicFrameLocks noGrp="1"/>
          </p:cNvGraphicFramePr>
          <p:nvPr/>
        </p:nvGraphicFramePr>
        <p:xfrm>
          <a:off x="502920" y="1508760"/>
          <a:ext cx="6309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Research areas and departments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Largest field: IICT – Chemistry (37%), NCL – Chemistry (27%), CECRI – Engineering (37%)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508760"/>
            <a:ext cx="4556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Top 2 departments per institute by papers</a:t>
            </a:r>
          </a:p>
        </p:txBody>
      </p:sp>
      <p:graphicFrame>
        <p:nvGraphicFramePr>
          <p:cNvPr id="7" name="Department table"/>
          <p:cNvGraphicFramePr>
            <a:graphicFrameLocks noGrp="1"/>
          </p:cNvGraphicFramePr>
          <p:nvPr/>
        </p:nvGraphicFramePr>
        <p:xfrm>
          <a:off x="7132320" y="1874519"/>
          <a:ext cx="4556453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0838"/>
                <a:gridCol w="555665"/>
                <a:gridCol w="592709"/>
                <a:gridCol w="592709"/>
                <a:gridCol w="4445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Applied Biology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Polymers &amp; Functional Materials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504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Physical and Materials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Organic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Electrochemical Process Engineering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Electrodics and Electrocatalysis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5166360"/>
            <a:ext cx="45564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776"/>
                </a:solidFill>
                <a:latin typeface="Calibri"/>
              </a:rPr>
              <a:t>Department = roster division of each faculty member; a paper counts in every department of its faculty authors. Papers by non-roster authors only are not assigned to a department.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stats/tables/research_areas_field.csv, department_performance.csv · field = OpenAlex primary topic → field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Citation &amp; Authorship Network Topology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27,268 citation links (1,653 cross-lab, in/out ratio 1.01); 7,864 authors in 130 Louvain communities (525 cross-lab links)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2501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27048"/>
            <a:ext cx="229583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10,988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corpus papers in citation graph (27,268 in-cluster links, 1,653 cross-lab)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6534" y="1417320"/>
            <a:ext cx="262501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1126" y="1527048"/>
            <a:ext cx="229583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1.01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in / out citation ratio with other Indian insts (88,639 in, 87,292 out)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8" y="1417320"/>
            <a:ext cx="262501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4740" y="1527048"/>
            <a:ext cx="229583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7,864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authors (35,423 co-author pairs, mean degree 9.0)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3761" y="1417320"/>
            <a:ext cx="262501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8353" y="1527048"/>
            <a:ext cx="229583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130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Louvain communities (modularity 0.81, 525 cross-lab links)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54329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Directed Citation Network: Top PageRank Papers</a:t>
            </a:r>
          </a:p>
        </p:txBody>
      </p:sp>
      <p:graphicFrame>
        <p:nvGraphicFramePr>
          <p:cNvPr id="14" name="PageRank table"/>
          <p:cNvGraphicFramePr>
            <a:graphicFrameLocks noGrp="1"/>
          </p:cNvGraphicFramePr>
          <p:nvPr/>
        </p:nvGraphicFramePr>
        <p:xfrm>
          <a:off x="502920" y="2724912"/>
          <a:ext cx="5432906" cy="19842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928"/>
                <a:gridCol w="2921900"/>
                <a:gridCol w="684820"/>
                <a:gridCol w="502201"/>
                <a:gridCol w="502201"/>
                <a:gridCol w="547856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PageRank top 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In-deg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0.0030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Pt Nanoparticle Anchored Molecular Self…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0.0028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Unprotected and interconnected Ru 0 nan…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Waste biorefinery models towards sustai…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4645152"/>
            <a:ext cx="54329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2A37"/>
                </a:solidFill>
                <a:latin typeface="Calibri"/>
              </a:rPr>
              <a:t>Citation Flow with Other Indian Institutions</a:t>
            </a:r>
          </a:p>
        </p:txBody>
      </p:sp>
      <p:graphicFrame>
        <p:nvGraphicFramePr>
          <p:cNvPr id="16" name="Indian flow table"/>
          <p:cNvGraphicFramePr>
            <a:graphicFrameLocks noGrp="1"/>
          </p:cNvGraphicFramePr>
          <p:nvPr/>
        </p:nvGraphicFramePr>
        <p:xfrm>
          <a:off x="502920" y="4901184"/>
          <a:ext cx="5432905" cy="11338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7439"/>
                <a:gridCol w="1187021"/>
                <a:gridCol w="1187021"/>
                <a:gridCol w="913093"/>
                <a:gridCol w="1278331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Cited by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Cites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In/out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Citing insts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32,840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38,891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1,816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32,434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30,206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1,683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23,365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18,195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1.28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1,310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55868" y="2423160"/>
            <a:ext cx="54329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Undirected Authorship Network: Top Degree Collaborators</a:t>
            </a:r>
          </a:p>
        </p:txBody>
      </p:sp>
      <p:graphicFrame>
        <p:nvGraphicFramePr>
          <p:cNvPr id="18" name="Degree table"/>
          <p:cNvGraphicFramePr>
            <a:graphicFrameLocks noGrp="1"/>
          </p:cNvGraphicFramePr>
          <p:nvPr/>
        </p:nvGraphicFramePr>
        <p:xfrm>
          <a:off x="6255868" y="2724912"/>
          <a:ext cx="5432904" cy="19842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928"/>
                <a:gridCol w="1917496"/>
                <a:gridCol w="639165"/>
                <a:gridCol w="639165"/>
                <a:gridCol w="821784"/>
                <a:gridCol w="639165"/>
                <a:gridCol w="502201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Most collaborative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Betweenness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Btw rank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Comm.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Balasubramanian Sridhar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380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#1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Dr. Jagadeesh Babu Nanub…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#2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Dr. Rajesh G. Gonnade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#5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Dr. Sunil Misra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#7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Dr. B.V. Subba Reddy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#6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Dr. Kumar Vanka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#9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55868" y="4645152"/>
            <a:ext cx="543290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2A37"/>
                </a:solidFill>
                <a:latin typeface="Calibri"/>
              </a:rPr>
              <a:t>Top Brokers by Betweenness &amp; Indian Partners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B5C8F"/>
                </a:solidFill>
                <a:latin typeface="Calibri"/>
              </a:rPr>
              <a:t>Balasubramanian Sridhar </a:t>
            </a:r>
            <a:r>
              <a:rPr sz="1000" b="0">
                <a:solidFill>
                  <a:srgbClr val="1F2A37"/>
                </a:solidFill>
                <a:latin typeface="Calibri"/>
              </a:rPr>
              <a:t>(IICT) · btw 0.096 · degree 380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B5C8F"/>
                </a:solidFill>
                <a:latin typeface="Calibri"/>
              </a:rPr>
              <a:t>Dr. Jagadeesh Babu Nanu… </a:t>
            </a:r>
            <a:r>
              <a:rPr sz="1000" b="0">
                <a:solidFill>
                  <a:srgbClr val="1F2A37"/>
                </a:solidFill>
                <a:latin typeface="Calibri"/>
              </a:rPr>
              <a:t>(IICT) · btw 0.090 · degree 285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D95F02"/>
                </a:solidFill>
                <a:latin typeface="Calibri"/>
              </a:rPr>
              <a:t>Dr Subrata Kundu </a:t>
            </a:r>
            <a:r>
              <a:rPr sz="1000" b="0">
                <a:solidFill>
                  <a:srgbClr val="1F2A37"/>
                </a:solidFill>
                <a:latin typeface="Calibri"/>
              </a:rPr>
              <a:t>(CECRI) · btw 0.072 · degree 137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F2A37"/>
                </a:solidFill>
                <a:latin typeface="Calibri"/>
              </a:rPr>
              <a:t>Top Indian co-authorship partners: </a:t>
            </a:r>
            <a:r>
              <a:rPr sz="1000" b="0">
                <a:solidFill>
                  <a:srgbClr val="1F2A37"/>
                </a:solidFill>
                <a:latin typeface="Calibri"/>
              </a:rPr>
              <a:t>Academy of Scientific and Innovative Rese… (641); Savitribai Phule Pune University (375); Council of Scientific and Industrial Rese… (337)</a:t>
            </a:r>
          </a:p>
        </p:txBody>
      </p:sp>
      <p:sp>
        <p:nvSpPr>
          <p:cNvPr id="20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stats/tables/network_summary.csv, network_citation_*.csv, network_authorship_*.csv, citation_flow_summary.csv · interactive graphs: </a:t>
            </a:r>
            <a:r>
              <a:rPr sz="1000">
                <a:solidFill>
                  <a:srgbClr val="1F5FA8"/>
                </a:solidFill>
                <a:latin typeface="Calibri"/>
                <a:hlinkClick r:id="rId2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Ten Non-Obvious Bibliometric &amp; Network Findings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Key empirical findings from cluster network fragility, brain circulation, succession risk, and citation dynamics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10 / 10</a:t>
            </a:r>
          </a:p>
        </p:txBody>
      </p:sp>
      <p:graphicFrame>
        <p:nvGraphicFramePr>
          <p:cNvPr id="5" name="Ten Non-Obvious Findings Table"/>
          <p:cNvGraphicFramePr>
            <a:graphicFrameLocks noGrp="1"/>
          </p:cNvGraphicFramePr>
          <p:nvPr/>
        </p:nvGraphicFramePr>
        <p:xfrm>
          <a:off x="502920" y="1371600"/>
          <a:ext cx="11185854" cy="47274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718"/>
                <a:gridCol w="3417900"/>
                <a:gridCol w="7457236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Research Question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Empirical Finding &amp; Headline Result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Do our researchers' co-authors have more co-authors than they do?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93.2% of researchers have fewer co-authors than their co-authors do. The average researcher has 9.2 co-authors, but the average co-author has 31.1.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Do the most-connected scientists collaborate mainly with each other?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The top 1% most-connected researchers show no rich-club effect and are less interconnected than chance (ρ_norm = 0.76). 41 of 78 are CSIR faculty.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How many researchers hold the cluster together?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Removing the top 872 bridge researchers (11.6% of the network) halves the cluster; random removal needs 3,279. Removing just 608 people disconnects the three labs from each other.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Is output concentrated in a few scientists?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√N = 19 scientists produce 36.2% of the cluster's papers (Price's law predicts 50%). The top 10% produce 50.3%; Gini = 0.63 (papers), 0.75 (citations).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Is a Q1 journal a reliable signal of a highly cited paper?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11.3% of the cluster's top-10% most-cited papers were published outside Q1 journals, while 1.4% of Q1 papers are still uncited.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Are the papers most influential inside our cluster the same as the world's most-cited?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In-cluster influence and global citations correlate only moderately (Spearman ρ = 0.40). 82 papers are 'hidden gems': top-5% internal influence, below-median global citations.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Which papers were ignored for years and then suddenly took off?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15 papers show delayed recognition. The strongest, 'Novel triazole hybrids of myrrhanone C, a natural polypodane triterpene: Synthesis, cytotoxic activity and cell based studies' (CSIR-IICT, 2016), averaged 3.6 citations/yr for 5 years, then jumped to 6.3/yr from 2021.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How much output did COVID cost, and did research shift?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Output was 1.8% above trend in 2020 and 12.7% above in 2021. COVID-related work peaked at 5.5% of CSIR-IICT's papers in 2021; the topic mix shifted 1.05× more than in a normal period.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How many of our scientists trained in India, worked abroad, and came back, and did time abroad change their research?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8.3% of classifiable CSIR scientists are returnees (NCL 13.2%, IICT 4.0%, CECRI 0.0%), mostly via US, DE. Returnees' papers show no significant difference in citations than home-grown peers of similar career age, and 9.0% vs 16.3% of their papers have foreign co-authors.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How much of each lab's output depends on scientists close to retirement?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>
                          <a:solidFill>
                            <a:srgbClr val="1F2A37"/>
                          </a:solidFill>
                          <a:latin typeface="Calibri"/>
                        </a:rPr>
                        <a:t>20.0% of CSIR-IICT's recent papers (23.3% of its citations) are led solely by scientists likely to retire within ~5 years. Highest exposure: Energy &amp; Environmental Engg. (69.3%).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stats/tables/insights/*.json · interactive charts and methodology notes: </a:t>
            </a:r>
            <a:r>
              <a:rPr sz="1000">
                <a:solidFill>
                  <a:srgbClr val="1F5FA8"/>
                </a:solidFill>
                <a:latin typeface="Calibri"/>
                <a:hlinkClick r:id="rId2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24 Statistics Report — CSIR-NCL, CSIR-IICT, CSIR-CECRI (2016–2026)</dc:title>
  <dc:subject/>
  <dc:creator>DPCN 2026 Group 24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